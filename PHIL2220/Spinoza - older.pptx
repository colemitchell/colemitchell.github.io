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8" r:id="rId2"/>
    <p:sldId id="294" r:id="rId3"/>
    <p:sldId id="330" r:id="rId4"/>
    <p:sldId id="302" r:id="rId5"/>
    <p:sldId id="331" r:id="rId6"/>
    <p:sldId id="334" r:id="rId7"/>
    <p:sldId id="336" r:id="rId8"/>
    <p:sldId id="325" r:id="rId9"/>
    <p:sldId id="335" r:id="rId10"/>
    <p:sldId id="337" r:id="rId11"/>
    <p:sldId id="328" r:id="rId12"/>
    <p:sldId id="338" r:id="rId13"/>
    <p:sldId id="339" r:id="rId14"/>
    <p:sldId id="329" r:id="rId15"/>
    <p:sldId id="340" r:id="rId16"/>
    <p:sldId id="341" r:id="rId17"/>
    <p:sldId id="342" r:id="rId18"/>
    <p:sldId id="343" r:id="rId19"/>
    <p:sldId id="344" r:id="rId20"/>
    <p:sldId id="345" r:id="rId21"/>
    <p:sldId id="346" r:id="rId22"/>
    <p:sldId id="347" r:id="rId23"/>
    <p:sldId id="349" r:id="rId24"/>
    <p:sldId id="350" r:id="rId25"/>
    <p:sldId id="312" r:id="rId26"/>
    <p:sldId id="313" r:id="rId27"/>
    <p:sldId id="314" r:id="rId28"/>
    <p:sldId id="315" r:id="rId29"/>
    <p:sldId id="352" r:id="rId30"/>
    <p:sldId id="353" r:id="rId31"/>
    <p:sldId id="316" r:id="rId32"/>
    <p:sldId id="317" r:id="rId33"/>
    <p:sldId id="318" r:id="rId34"/>
    <p:sldId id="319" r:id="rId35"/>
    <p:sldId id="320" r:id="rId36"/>
    <p:sldId id="321" r:id="rId37"/>
    <p:sldId id="322" r:id="rId38"/>
    <p:sldId id="324" r:id="rId39"/>
    <p:sldId id="351" r:id="rId40"/>
    <p:sldId id="295" r:id="rId41"/>
    <p:sldId id="333" r:id="rId42"/>
    <p:sldId id="303" r:id="rId43"/>
    <p:sldId id="304" r:id="rId44"/>
    <p:sldId id="305" r:id="rId45"/>
    <p:sldId id="306" r:id="rId46"/>
    <p:sldId id="308" r:id="rId47"/>
    <p:sldId id="309" r:id="rId48"/>
    <p:sldId id="310" r:id="rId49"/>
    <p:sldId id="311" r:id="rId50"/>
    <p:sldId id="326" r:id="rId5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89" d="100"/>
          <a:sy n="89" d="100"/>
        </p:scale>
        <p:origin x="1219"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0889-07F8-4A0A-A43F-8FDB33CBABF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3574A8-0A81-4C0E-9D4E-1A93CA4AB34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9837E784-4E6D-4D1C-93FE-D439E40C635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3BF5C5B-DA94-4E21-BE4D-6A93437DC34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2BDA3C1-AAAD-4A9A-9052-230D8740DF2A}"/>
              </a:ext>
            </a:extLst>
          </p:cNvPr>
          <p:cNvSpPr>
            <a:spLocks noGrp="1" noChangeArrowheads="1"/>
          </p:cNvSpPr>
          <p:nvPr>
            <p:ph type="sldNum" sz="quarter" idx="12"/>
          </p:nvPr>
        </p:nvSpPr>
        <p:spPr>
          <a:ln/>
        </p:spPr>
        <p:txBody>
          <a:bodyPr/>
          <a:lstStyle>
            <a:lvl1pPr>
              <a:defRPr/>
            </a:lvl1pPr>
          </a:lstStyle>
          <a:p>
            <a:pPr>
              <a:defRPr/>
            </a:pPr>
            <a:fld id="{E0FD25E7-7642-491D-B10C-A167CC4A45A8}" type="slidenum">
              <a:rPr lang="en-US" altLang="en-US"/>
              <a:pPr>
                <a:defRPr/>
              </a:pPr>
              <a:t>‹#›</a:t>
            </a:fld>
            <a:endParaRPr lang="en-US" altLang="en-US"/>
          </a:p>
        </p:txBody>
      </p:sp>
    </p:spTree>
    <p:extLst>
      <p:ext uri="{BB962C8B-B14F-4D97-AF65-F5344CB8AC3E}">
        <p14:creationId xmlns:p14="http://schemas.microsoft.com/office/powerpoint/2010/main" val="114722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03DC-17ED-4E5A-8A61-DB6F2ABFE9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33207-D438-43CB-B8F3-19BB72A7B5B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C4CAA1-A0E1-4FF8-A357-234578A27FE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2BDAF42-A50C-4E7F-A2C7-4524FA978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8575B9-DC9C-4117-B5EB-51F1D3102A89}"/>
              </a:ext>
            </a:extLst>
          </p:cNvPr>
          <p:cNvSpPr>
            <a:spLocks noGrp="1" noChangeArrowheads="1"/>
          </p:cNvSpPr>
          <p:nvPr>
            <p:ph type="sldNum" sz="quarter" idx="12"/>
          </p:nvPr>
        </p:nvSpPr>
        <p:spPr>
          <a:ln/>
        </p:spPr>
        <p:txBody>
          <a:bodyPr/>
          <a:lstStyle>
            <a:lvl1pPr>
              <a:defRPr/>
            </a:lvl1pPr>
          </a:lstStyle>
          <a:p>
            <a:pPr>
              <a:defRPr/>
            </a:pPr>
            <a:fld id="{0C0165A0-5883-4B82-9664-F1C0907D9354}" type="slidenum">
              <a:rPr lang="en-US" altLang="en-US"/>
              <a:pPr>
                <a:defRPr/>
              </a:pPr>
              <a:t>‹#›</a:t>
            </a:fld>
            <a:endParaRPr lang="en-US" altLang="en-US"/>
          </a:p>
        </p:txBody>
      </p:sp>
    </p:spTree>
    <p:extLst>
      <p:ext uri="{BB962C8B-B14F-4D97-AF65-F5344CB8AC3E}">
        <p14:creationId xmlns:p14="http://schemas.microsoft.com/office/powerpoint/2010/main" val="409757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F06F-55D8-4A3F-BA3F-AACF8A1F4F7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84719-8556-468A-BEC7-2D94899D42B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DAE0A477-E8DC-4D7C-ACBF-C8EE0F2814F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5EF5D03-5EC3-4531-9461-937F1D0097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7A042059-B97A-47AB-A506-D9CF506380EA}"/>
              </a:ext>
            </a:extLst>
          </p:cNvPr>
          <p:cNvSpPr>
            <a:spLocks noGrp="1" noChangeArrowheads="1"/>
          </p:cNvSpPr>
          <p:nvPr>
            <p:ph type="sldNum" sz="quarter" idx="12"/>
          </p:nvPr>
        </p:nvSpPr>
        <p:spPr>
          <a:ln/>
        </p:spPr>
        <p:txBody>
          <a:bodyPr/>
          <a:lstStyle>
            <a:lvl1pPr>
              <a:defRPr/>
            </a:lvl1pPr>
          </a:lstStyle>
          <a:p>
            <a:pPr>
              <a:defRPr/>
            </a:pPr>
            <a:fld id="{8E44D782-CE52-41AF-AB61-5F64E272BCB5}" type="slidenum">
              <a:rPr lang="en-US" altLang="en-US"/>
              <a:pPr>
                <a:defRPr/>
              </a:pPr>
              <a:t>‹#›</a:t>
            </a:fld>
            <a:endParaRPr lang="en-US" altLang="en-US"/>
          </a:p>
        </p:txBody>
      </p:sp>
    </p:spTree>
    <p:extLst>
      <p:ext uri="{BB962C8B-B14F-4D97-AF65-F5344CB8AC3E}">
        <p14:creationId xmlns:p14="http://schemas.microsoft.com/office/powerpoint/2010/main" val="92843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8314-DE52-4D42-BBB8-72393110A8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84C294-EAED-4D8C-A98A-12DE36746121}"/>
              </a:ext>
            </a:extLst>
          </p:cNvPr>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FB16CB-F7D5-43E9-A638-15E7B08406D8}"/>
              </a:ext>
            </a:extLst>
          </p:cNvPr>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DB11577-CA7B-4F8F-9251-F61C4CC6F38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D445D0F-7A10-40B0-AFEB-3D2DD669A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7472AE6-0BC6-4325-8566-A4F23372FC9A}"/>
              </a:ext>
            </a:extLst>
          </p:cNvPr>
          <p:cNvSpPr>
            <a:spLocks noGrp="1" noChangeArrowheads="1"/>
          </p:cNvSpPr>
          <p:nvPr>
            <p:ph type="sldNum" sz="quarter" idx="12"/>
          </p:nvPr>
        </p:nvSpPr>
        <p:spPr>
          <a:ln/>
        </p:spPr>
        <p:txBody>
          <a:bodyPr/>
          <a:lstStyle>
            <a:lvl1pPr>
              <a:defRPr/>
            </a:lvl1pPr>
          </a:lstStyle>
          <a:p>
            <a:pPr>
              <a:defRPr/>
            </a:pPr>
            <a:fld id="{0B0B6F5E-936F-4950-B0DE-385368D2E8A8}" type="slidenum">
              <a:rPr lang="en-US" altLang="en-US"/>
              <a:pPr>
                <a:defRPr/>
              </a:pPr>
              <a:t>‹#›</a:t>
            </a:fld>
            <a:endParaRPr lang="en-US" altLang="en-US"/>
          </a:p>
        </p:txBody>
      </p:sp>
    </p:spTree>
    <p:extLst>
      <p:ext uri="{BB962C8B-B14F-4D97-AF65-F5344CB8AC3E}">
        <p14:creationId xmlns:p14="http://schemas.microsoft.com/office/powerpoint/2010/main" val="290436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EC12-4C53-4312-B7CA-1A9EE11B952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C1EDE-53FF-43A9-83EB-A81168271A6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67CCC34-9E30-4DA0-A407-8BAEB4A3727D}"/>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18914C-D3FB-4A74-B9E0-EF724BE934E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A70E08-DCBA-43D4-9139-0FB243ECFF6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468C0A0-95E7-4B31-B7FE-DBFA06B4903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9345E374-545E-4D0F-800D-478FDB04C02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1CA00144-135A-4EA0-92F4-2CFAA67B6FBA}"/>
              </a:ext>
            </a:extLst>
          </p:cNvPr>
          <p:cNvSpPr>
            <a:spLocks noGrp="1" noChangeArrowheads="1"/>
          </p:cNvSpPr>
          <p:nvPr>
            <p:ph type="sldNum" sz="quarter" idx="12"/>
          </p:nvPr>
        </p:nvSpPr>
        <p:spPr>
          <a:ln/>
        </p:spPr>
        <p:txBody>
          <a:bodyPr/>
          <a:lstStyle>
            <a:lvl1pPr>
              <a:defRPr/>
            </a:lvl1pPr>
          </a:lstStyle>
          <a:p>
            <a:pPr>
              <a:defRPr/>
            </a:pPr>
            <a:fld id="{0BCAF4C1-A6D7-434A-85FC-A3336F8E7B35}" type="slidenum">
              <a:rPr lang="en-US" altLang="en-US"/>
              <a:pPr>
                <a:defRPr/>
              </a:pPr>
              <a:t>‹#›</a:t>
            </a:fld>
            <a:endParaRPr lang="en-US" altLang="en-US"/>
          </a:p>
        </p:txBody>
      </p:sp>
    </p:spTree>
    <p:extLst>
      <p:ext uri="{BB962C8B-B14F-4D97-AF65-F5344CB8AC3E}">
        <p14:creationId xmlns:p14="http://schemas.microsoft.com/office/powerpoint/2010/main" val="176663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8A690-CA6A-4937-9649-A8853F0C524F}"/>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B36BF89-71B5-4510-85D9-E2FD9E4362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CE02863B-C9A2-4F5C-9B96-400FAADB06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A720282-7345-45B1-A585-897F3C51BF46}"/>
              </a:ext>
            </a:extLst>
          </p:cNvPr>
          <p:cNvSpPr>
            <a:spLocks noGrp="1" noChangeArrowheads="1"/>
          </p:cNvSpPr>
          <p:nvPr>
            <p:ph type="sldNum" sz="quarter" idx="12"/>
          </p:nvPr>
        </p:nvSpPr>
        <p:spPr>
          <a:ln/>
        </p:spPr>
        <p:txBody>
          <a:bodyPr/>
          <a:lstStyle>
            <a:lvl1pPr>
              <a:defRPr/>
            </a:lvl1pPr>
          </a:lstStyle>
          <a:p>
            <a:pPr>
              <a:defRPr/>
            </a:pPr>
            <a:fld id="{9F963534-CA4B-4EAF-9C7A-C48A2DF6EF8F}" type="slidenum">
              <a:rPr lang="en-US" altLang="en-US"/>
              <a:pPr>
                <a:defRPr/>
              </a:pPr>
              <a:t>‹#›</a:t>
            </a:fld>
            <a:endParaRPr lang="en-US" altLang="en-US"/>
          </a:p>
        </p:txBody>
      </p:sp>
    </p:spTree>
    <p:extLst>
      <p:ext uri="{BB962C8B-B14F-4D97-AF65-F5344CB8AC3E}">
        <p14:creationId xmlns:p14="http://schemas.microsoft.com/office/powerpoint/2010/main" val="138010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19CD24F-2F71-4FE4-BB44-B87A9E02A2F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63797EBB-B8B2-4177-B8AA-29369C58C21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F4B728C-763A-41C8-9D0C-93A52439C0DD}"/>
              </a:ext>
            </a:extLst>
          </p:cNvPr>
          <p:cNvSpPr>
            <a:spLocks noGrp="1" noChangeArrowheads="1"/>
          </p:cNvSpPr>
          <p:nvPr>
            <p:ph type="sldNum" sz="quarter" idx="12"/>
          </p:nvPr>
        </p:nvSpPr>
        <p:spPr>
          <a:ln/>
        </p:spPr>
        <p:txBody>
          <a:bodyPr/>
          <a:lstStyle>
            <a:lvl1pPr>
              <a:defRPr/>
            </a:lvl1pPr>
          </a:lstStyle>
          <a:p>
            <a:pPr>
              <a:defRPr/>
            </a:pPr>
            <a:fld id="{761249CC-80B1-4BFA-AD71-3A3C406E9C61}" type="slidenum">
              <a:rPr lang="en-US" altLang="en-US"/>
              <a:pPr>
                <a:defRPr/>
              </a:pPr>
              <a:t>‹#›</a:t>
            </a:fld>
            <a:endParaRPr lang="en-US" altLang="en-US"/>
          </a:p>
        </p:txBody>
      </p:sp>
    </p:spTree>
    <p:extLst>
      <p:ext uri="{BB962C8B-B14F-4D97-AF65-F5344CB8AC3E}">
        <p14:creationId xmlns:p14="http://schemas.microsoft.com/office/powerpoint/2010/main" val="50530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B0BE-FFD2-41DD-940B-DB4B19B718A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A2202C-31D9-4A31-B478-D0BEEC8546E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4B7D2D-30CB-423D-ADBE-66B78BE5C7B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D28CE67D-281B-4BFD-A71D-246BE063AA1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3F23615-4C24-4991-B309-AB346CE2089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4C9E16D-28E9-4A60-B0A0-0E8C39F1D183}"/>
              </a:ext>
            </a:extLst>
          </p:cNvPr>
          <p:cNvSpPr>
            <a:spLocks noGrp="1" noChangeArrowheads="1"/>
          </p:cNvSpPr>
          <p:nvPr>
            <p:ph type="sldNum" sz="quarter" idx="12"/>
          </p:nvPr>
        </p:nvSpPr>
        <p:spPr>
          <a:ln/>
        </p:spPr>
        <p:txBody>
          <a:bodyPr/>
          <a:lstStyle>
            <a:lvl1pPr>
              <a:defRPr/>
            </a:lvl1pPr>
          </a:lstStyle>
          <a:p>
            <a:pPr>
              <a:defRPr/>
            </a:pPr>
            <a:fld id="{05FFE348-B3A4-412D-A1C9-C4B27D546FCD}" type="slidenum">
              <a:rPr lang="en-US" altLang="en-US"/>
              <a:pPr>
                <a:defRPr/>
              </a:pPr>
              <a:t>‹#›</a:t>
            </a:fld>
            <a:endParaRPr lang="en-US" altLang="en-US"/>
          </a:p>
        </p:txBody>
      </p:sp>
    </p:spTree>
    <p:extLst>
      <p:ext uri="{BB962C8B-B14F-4D97-AF65-F5344CB8AC3E}">
        <p14:creationId xmlns:p14="http://schemas.microsoft.com/office/powerpoint/2010/main" val="2201987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0BFD-B4F5-4760-9D41-9FFE55F91D8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0ABDFC-1555-467A-847F-A789AF3C9B5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AFE1945C-E6B6-4DF4-B560-D0816148F1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EF201531-E7F0-413A-883F-55F64925F6E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435A85B-5950-4AC0-8CDA-84884AC4D7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DEA20D2D-FF7E-44B9-81EF-4B878F93C448}"/>
              </a:ext>
            </a:extLst>
          </p:cNvPr>
          <p:cNvSpPr>
            <a:spLocks noGrp="1" noChangeArrowheads="1"/>
          </p:cNvSpPr>
          <p:nvPr>
            <p:ph type="sldNum" sz="quarter" idx="12"/>
          </p:nvPr>
        </p:nvSpPr>
        <p:spPr>
          <a:ln/>
        </p:spPr>
        <p:txBody>
          <a:bodyPr/>
          <a:lstStyle>
            <a:lvl1pPr>
              <a:defRPr/>
            </a:lvl1pPr>
          </a:lstStyle>
          <a:p>
            <a:pPr>
              <a:defRPr/>
            </a:pPr>
            <a:fld id="{93966010-9C90-4F74-81E7-FAA5505E498F}" type="slidenum">
              <a:rPr lang="en-US" altLang="en-US"/>
              <a:pPr>
                <a:defRPr/>
              </a:pPr>
              <a:t>‹#›</a:t>
            </a:fld>
            <a:endParaRPr lang="en-US" altLang="en-US"/>
          </a:p>
        </p:txBody>
      </p:sp>
    </p:spTree>
    <p:extLst>
      <p:ext uri="{BB962C8B-B14F-4D97-AF65-F5344CB8AC3E}">
        <p14:creationId xmlns:p14="http://schemas.microsoft.com/office/powerpoint/2010/main" val="376173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9406-C356-4484-9F1E-60323065FE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21F55E-0DE1-4AFF-930A-C8046211417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41FFCE2-B6F3-47AD-9C97-8517C6A601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C85FC68-8CD3-449F-BE0E-7E7F769D1E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FC2BBDC-7E6C-4835-843B-7A1101EFC1E4}"/>
              </a:ext>
            </a:extLst>
          </p:cNvPr>
          <p:cNvSpPr>
            <a:spLocks noGrp="1" noChangeArrowheads="1"/>
          </p:cNvSpPr>
          <p:nvPr>
            <p:ph type="sldNum" sz="quarter" idx="12"/>
          </p:nvPr>
        </p:nvSpPr>
        <p:spPr>
          <a:ln/>
        </p:spPr>
        <p:txBody>
          <a:bodyPr/>
          <a:lstStyle>
            <a:lvl1pPr>
              <a:defRPr/>
            </a:lvl1pPr>
          </a:lstStyle>
          <a:p>
            <a:pPr>
              <a:defRPr/>
            </a:pPr>
            <a:fld id="{55D4AC30-21CB-47F0-BC13-72C0477CC56D}" type="slidenum">
              <a:rPr lang="en-US" altLang="en-US"/>
              <a:pPr>
                <a:defRPr/>
              </a:pPr>
              <a:t>‹#›</a:t>
            </a:fld>
            <a:endParaRPr lang="en-US" altLang="en-US"/>
          </a:p>
        </p:txBody>
      </p:sp>
    </p:spTree>
    <p:extLst>
      <p:ext uri="{BB962C8B-B14F-4D97-AF65-F5344CB8AC3E}">
        <p14:creationId xmlns:p14="http://schemas.microsoft.com/office/powerpoint/2010/main" val="10858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06947-E868-4860-AEB3-35C235273E83}"/>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99817C-3616-4649-9C4F-87EFFE63BF99}"/>
              </a:ext>
            </a:extLst>
          </p:cNvPr>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9FDCE0B-0E40-4AF7-88C8-DF4349C26FE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63E76B0-EFAF-4487-8B42-B04A651F929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0B9707E-891F-46B9-B83F-F3E092DF69A8}"/>
              </a:ext>
            </a:extLst>
          </p:cNvPr>
          <p:cNvSpPr>
            <a:spLocks noGrp="1" noChangeArrowheads="1"/>
          </p:cNvSpPr>
          <p:nvPr>
            <p:ph type="sldNum" sz="quarter" idx="12"/>
          </p:nvPr>
        </p:nvSpPr>
        <p:spPr>
          <a:ln/>
        </p:spPr>
        <p:txBody>
          <a:bodyPr/>
          <a:lstStyle>
            <a:lvl1pPr>
              <a:defRPr/>
            </a:lvl1pPr>
          </a:lstStyle>
          <a:p>
            <a:pPr>
              <a:defRPr/>
            </a:pPr>
            <a:fld id="{E1C12229-CCAB-42C2-8DB9-B18E9319B738}" type="slidenum">
              <a:rPr lang="en-US" altLang="en-US"/>
              <a:pPr>
                <a:defRPr/>
              </a:pPr>
              <a:t>‹#›</a:t>
            </a:fld>
            <a:endParaRPr lang="en-US" altLang="en-US"/>
          </a:p>
        </p:txBody>
      </p:sp>
    </p:spTree>
    <p:extLst>
      <p:ext uri="{BB962C8B-B14F-4D97-AF65-F5344CB8AC3E}">
        <p14:creationId xmlns:p14="http://schemas.microsoft.com/office/powerpoint/2010/main" val="81324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accent2"/>
            </a:gs>
            <a:gs pos="100000">
              <a:srgbClr val="181847"/>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7F21F7C-D99F-47B9-AEAF-5313669E93BB}"/>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B82F917-E9AB-4D01-A674-6454B77D3333}"/>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58B7CF-C253-45BE-8F3F-D00174A8E3B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862CCB12-DB77-46EF-A142-E0FDF7C5FC58}"/>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1DF35B57-97B7-44E1-A529-4638187DB3C3}"/>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DF05E1C-88FE-4BB3-AF67-79AFE5E728A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0"/>
            <a:ext cx="8229600" cy="868362"/>
          </a:xfrm>
        </p:spPr>
        <p:txBody>
          <a:bodyPr/>
          <a:lstStyle/>
          <a:p>
            <a:pPr eaLnBrk="1" hangingPunct="1"/>
            <a:r>
              <a:rPr lang="en-US" altLang="en-US" sz="3600" dirty="0">
                <a:solidFill>
                  <a:schemeClr val="bg1"/>
                </a:solidFill>
                <a:latin typeface="Palatino Linotype" panose="02040502050505030304" pitchFamily="18" charset="0"/>
              </a:rPr>
              <a:t>Three kinds of dependence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655637"/>
            <a:ext cx="8229600" cy="4830763"/>
          </a:xfrm>
        </p:spPr>
        <p:txBody>
          <a:bodyPr/>
          <a:lstStyle/>
          <a:p>
            <a:pPr eaLnBrk="1" hangingPunct="1">
              <a:lnSpc>
                <a:spcPct val="92000"/>
              </a:lnSpc>
              <a:spcBef>
                <a:spcPts val="300"/>
              </a:spcBef>
            </a:pPr>
            <a:r>
              <a:rPr lang="en-US" altLang="en-US" sz="2400" dirty="0">
                <a:solidFill>
                  <a:schemeClr val="bg1"/>
                </a:solidFill>
                <a:latin typeface="Palatino Linotype" panose="02040502050505030304" pitchFamily="18" charset="0"/>
              </a:rPr>
              <a:t>“in”</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in</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  = </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ontologically depends on </a:t>
            </a:r>
            <a:r>
              <a:rPr lang="en-US" altLang="en-US" sz="2000" i="1" dirty="0">
                <a:solidFill>
                  <a:schemeClr val="bg1"/>
                </a:solidFill>
                <a:latin typeface="Palatino Linotype" panose="02040502050505030304" pitchFamily="18" charset="0"/>
              </a:rPr>
              <a:t>B.</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exists only because of </a:t>
            </a:r>
            <a:r>
              <a:rPr lang="en-US" altLang="en-US" sz="1800" i="1" dirty="0">
                <a:solidFill>
                  <a:schemeClr val="bg1"/>
                </a:solidFill>
                <a:latin typeface="Palatino Linotype" panose="02040502050505030304" pitchFamily="18" charset="0"/>
              </a:rPr>
              <a:t>B</a:t>
            </a:r>
            <a:r>
              <a:rPr lang="en-US" altLang="en-US" sz="18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Think of the way a basketball’s qualities </a:t>
            </a:r>
            <a:r>
              <a:rPr lang="en-US" altLang="en-US" sz="2000" i="1" dirty="0">
                <a:solidFill>
                  <a:schemeClr val="bg1"/>
                </a:solidFill>
                <a:latin typeface="Palatino Linotype" panose="02040502050505030304" pitchFamily="18" charset="0"/>
              </a:rPr>
              <a:t>inhere in </a:t>
            </a:r>
            <a:r>
              <a:rPr lang="en-US" altLang="en-US" sz="2000" dirty="0">
                <a:solidFill>
                  <a:schemeClr val="bg1"/>
                </a:solidFill>
                <a:latin typeface="Palatino Linotype" panose="02040502050505030304" pitchFamily="18" charset="0"/>
              </a:rPr>
              <a:t>the basketball.</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“in itself”: it doesn’t depend on anything else for its existence.</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“conceived through”</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conceived through</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conceptually depends on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can be understood/known only in terms of </a:t>
            </a:r>
            <a:r>
              <a:rPr lang="en-US" altLang="en-US" sz="1800" i="1" dirty="0">
                <a:solidFill>
                  <a:schemeClr val="bg1"/>
                </a:solidFill>
                <a:latin typeface="Palatino Linotype" panose="02040502050505030304" pitchFamily="18" charset="0"/>
              </a:rPr>
              <a:t>B.</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The only way to understand/know the bumpiness of a basketball is in terms of the basketball itself.</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“conceived through itself”: it doesn’t depend on anything else for its conceptualization.</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cause-effect</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caused by</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the effect of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1a4: “The knowledge [</a:t>
            </a:r>
            <a:r>
              <a:rPr lang="en-US" altLang="en-US" sz="2000" i="1" dirty="0" err="1">
                <a:solidFill>
                  <a:schemeClr val="bg1"/>
                </a:solidFill>
                <a:latin typeface="Palatino Linotype" panose="02040502050505030304" pitchFamily="18" charset="0"/>
              </a:rPr>
              <a:t>cognitio</a:t>
            </a:r>
            <a:r>
              <a:rPr lang="en-US" altLang="en-US" sz="2000" dirty="0">
                <a:solidFill>
                  <a:schemeClr val="bg1"/>
                </a:solidFill>
                <a:latin typeface="Palatino Linotype" panose="02040502050505030304" pitchFamily="18" charset="0"/>
              </a:rPr>
              <a:t>] of an effect depends on and involves the knowledge of a cause”: causal relations go with conceptual relations.</a:t>
            </a:r>
          </a:p>
        </p:txBody>
      </p:sp>
    </p:spTree>
    <p:extLst>
      <p:ext uri="{BB962C8B-B14F-4D97-AF65-F5344CB8AC3E}">
        <p14:creationId xmlns:p14="http://schemas.microsoft.com/office/powerpoint/2010/main" val="338482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74638"/>
            <a:ext cx="8229600" cy="868362"/>
          </a:xfrm>
        </p:spPr>
        <p:txBody>
          <a:bodyPr/>
          <a:lstStyle/>
          <a:p>
            <a:pPr eaLnBrk="1" hangingPunct="1"/>
            <a:r>
              <a:rPr lang="en-US" altLang="en-US" sz="3600" i="1" dirty="0">
                <a:solidFill>
                  <a:schemeClr val="bg1"/>
                </a:solidFill>
                <a:latin typeface="Palatino Linotype" panose="02040502050505030304" pitchFamily="18" charset="0"/>
              </a:rPr>
              <a:t>E</a:t>
            </a:r>
            <a:r>
              <a:rPr lang="en-US" altLang="en-US" sz="3600" dirty="0">
                <a:solidFill>
                  <a:schemeClr val="bg1"/>
                </a:solidFill>
                <a:latin typeface="Palatino Linotype" panose="02040502050505030304" pitchFamily="18" charset="0"/>
              </a:rPr>
              <a:t>1p1: substance prior to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“Substance is by nature prior to its modifications [</a:t>
            </a:r>
            <a:r>
              <a:rPr lang="en-US" altLang="en-US" sz="2200" i="1" dirty="0">
                <a:solidFill>
                  <a:schemeClr val="bg1"/>
                </a:solidFill>
                <a:latin typeface="Palatino Linotype" panose="02040502050505030304" pitchFamily="18" charset="0"/>
              </a:rPr>
              <a:t>affectionibus</a:t>
            </a:r>
            <a:r>
              <a:rPr lang="en-US" altLang="en-US" sz="2200" dirty="0">
                <a:solidFill>
                  <a:schemeClr val="bg1"/>
                </a:solidFill>
                <a:latin typeface="Palatino Linotype" panose="02040502050505030304" pitchFamily="18" charset="0"/>
              </a:rPr>
              <a:t>].”</a:t>
            </a:r>
          </a:p>
          <a:p>
            <a:pPr eaLnBrk="1" hangingPunct="1">
              <a:lnSpc>
                <a:spcPct val="90000"/>
              </a:lnSpc>
            </a:pPr>
            <a:r>
              <a:rPr lang="en-US" altLang="en-US" sz="2200" dirty="0">
                <a:solidFill>
                  <a:schemeClr val="bg1"/>
                </a:solidFill>
                <a:latin typeface="Palatino Linotype" panose="02040502050505030304" pitchFamily="18" charset="0"/>
              </a:rPr>
              <a:t>Spinoza has three words he uses, which may be equivalent:</a:t>
            </a:r>
          </a:p>
          <a:p>
            <a:pPr lvl="1" eaLnBrk="1" hangingPunct="1">
              <a:lnSpc>
                <a:spcPct val="90000"/>
              </a:lnSpc>
            </a:pPr>
            <a:r>
              <a:rPr lang="en-US" altLang="en-US" sz="2000" dirty="0">
                <a:solidFill>
                  <a:schemeClr val="bg1"/>
                </a:solidFill>
                <a:latin typeface="Palatino Linotype" panose="02040502050505030304" pitchFamily="18" charset="0"/>
              </a:rPr>
              <a:t>‘modes’ = ‘modifications’ = ‘affections’</a:t>
            </a:r>
          </a:p>
          <a:p>
            <a:pPr lvl="1" eaLnBrk="1" hangingPunct="1">
              <a:lnSpc>
                <a:spcPct val="90000"/>
              </a:lnSpc>
            </a:pPr>
            <a:r>
              <a:rPr lang="en-US" altLang="en-US" sz="2000" dirty="0">
                <a:solidFill>
                  <a:schemeClr val="bg1"/>
                </a:solidFill>
                <a:latin typeface="Palatino Linotype" panose="02040502050505030304" pitchFamily="18" charset="0"/>
              </a:rPr>
              <a:t>cf. Descartes, </a:t>
            </a:r>
            <a:r>
              <a:rPr lang="en-US" altLang="en-US" sz="2000" i="1" dirty="0">
                <a:solidFill>
                  <a:schemeClr val="bg1"/>
                </a:solidFill>
                <a:latin typeface="Palatino Linotype" panose="02040502050505030304" pitchFamily="18" charset="0"/>
              </a:rPr>
              <a:t>Principles of Philosophy</a:t>
            </a:r>
            <a:r>
              <a:rPr lang="en-US" altLang="en-US" sz="2000" dirty="0">
                <a:solidFill>
                  <a:schemeClr val="bg1"/>
                </a:solidFill>
                <a:latin typeface="Palatino Linotype" panose="02040502050505030304" pitchFamily="18" charset="0"/>
              </a:rPr>
              <a:t>: “By </a:t>
            </a:r>
            <a:r>
              <a:rPr lang="en-US" altLang="en-US" sz="2000" i="1" dirty="0">
                <a:solidFill>
                  <a:schemeClr val="bg1"/>
                </a:solidFill>
                <a:latin typeface="Palatino Linotype" panose="02040502050505030304" pitchFamily="18" charset="0"/>
              </a:rPr>
              <a:t>mode</a:t>
            </a:r>
            <a:r>
              <a:rPr lang="en-US" altLang="en-US" sz="2000" dirty="0">
                <a:solidFill>
                  <a:schemeClr val="bg1"/>
                </a:solidFill>
                <a:latin typeface="Palatino Linotype" panose="02040502050505030304" pitchFamily="18" charset="0"/>
              </a:rPr>
              <a:t>, as used above, we understand exactly the same as what is elsewhere meant by an </a:t>
            </a:r>
            <a:r>
              <a:rPr lang="en-US" altLang="en-US" sz="2000" i="1" dirty="0">
                <a:solidFill>
                  <a:schemeClr val="bg1"/>
                </a:solidFill>
                <a:latin typeface="Palatino Linotype" panose="02040502050505030304" pitchFamily="18" charset="0"/>
              </a:rPr>
              <a:t>attribute</a:t>
            </a:r>
            <a:r>
              <a:rPr lang="en-US" altLang="en-US" sz="2000" dirty="0">
                <a:solidFill>
                  <a:schemeClr val="bg1"/>
                </a:solidFill>
                <a:latin typeface="Palatino Linotype" panose="02040502050505030304" pitchFamily="18" charset="0"/>
              </a:rPr>
              <a:t> or </a:t>
            </a:r>
            <a:r>
              <a:rPr lang="en-US" altLang="en-US" sz="2000" i="1" dirty="0">
                <a:solidFill>
                  <a:schemeClr val="bg1"/>
                </a:solidFill>
                <a:latin typeface="Palatino Linotype" panose="02040502050505030304" pitchFamily="18" charset="0"/>
              </a:rPr>
              <a:t>quality</a:t>
            </a:r>
            <a:r>
              <a:rPr lang="en-US" altLang="en-US" sz="2000" dirty="0">
                <a:solidFill>
                  <a:schemeClr val="bg1"/>
                </a:solidFill>
                <a:latin typeface="Palatino Linotype" panose="02040502050505030304" pitchFamily="18" charset="0"/>
              </a:rPr>
              <a:t>. But we employ the term </a:t>
            </a:r>
            <a:r>
              <a:rPr lang="en-US" altLang="en-US" sz="2000" i="1" dirty="0">
                <a:solidFill>
                  <a:schemeClr val="bg1"/>
                </a:solidFill>
                <a:latin typeface="Palatino Linotype" panose="02040502050505030304" pitchFamily="18" charset="0"/>
              </a:rPr>
              <a:t>mode</a:t>
            </a:r>
            <a:r>
              <a:rPr lang="en-US" altLang="en-US" sz="2000" dirty="0">
                <a:solidFill>
                  <a:schemeClr val="bg1"/>
                </a:solidFill>
                <a:latin typeface="Palatino Linotype" panose="02040502050505030304" pitchFamily="18" charset="0"/>
              </a:rPr>
              <a:t> when we are thinking of a substance as </a:t>
            </a:r>
            <a:r>
              <a:rPr lang="en-US" altLang="en-US" sz="2000" u="sng" dirty="0">
                <a:solidFill>
                  <a:schemeClr val="bg1"/>
                </a:solidFill>
                <a:latin typeface="Palatino Linotype" panose="02040502050505030304" pitchFamily="18" charset="0"/>
              </a:rPr>
              <a:t>being affected or modified</a:t>
            </a:r>
            <a:r>
              <a:rPr lang="en-US" altLang="en-US" sz="2000" dirty="0">
                <a:solidFill>
                  <a:schemeClr val="bg1"/>
                </a:solidFill>
                <a:latin typeface="Palatino Linotype" panose="02040502050505030304" pitchFamily="18" charset="0"/>
              </a:rPr>
              <a:t>[.]”</a:t>
            </a:r>
            <a:endParaRPr lang="en-US" altLang="en-US" sz="2200" dirty="0">
              <a:solidFill>
                <a:schemeClr val="bg1"/>
              </a:solidFill>
              <a:latin typeface="Palatino Linotype" panose="02040502050505030304" pitchFamily="18" charset="0"/>
            </a:endParaRPr>
          </a:p>
          <a:p>
            <a:pPr eaLnBrk="1" hangingPunct="1">
              <a:lnSpc>
                <a:spcPct val="90000"/>
              </a:lnSpc>
            </a:pPr>
            <a:r>
              <a:rPr lang="en-US" altLang="en-US" sz="2200" dirty="0">
                <a:solidFill>
                  <a:schemeClr val="bg1"/>
                </a:solidFill>
                <a:latin typeface="Palatino Linotype" panose="02040502050505030304" pitchFamily="18" charset="0"/>
              </a:rPr>
              <a:t>We know modes depend on substances in two ways:</a:t>
            </a:r>
          </a:p>
          <a:p>
            <a:pPr lvl="1" eaLnBrk="1" hangingPunct="1">
              <a:lnSpc>
                <a:spcPct val="90000"/>
              </a:lnSpc>
            </a:pPr>
            <a:r>
              <a:rPr lang="en-US" altLang="en-US" sz="2000" dirty="0">
                <a:solidFill>
                  <a:schemeClr val="bg1"/>
                </a:solidFill>
                <a:latin typeface="Palatino Linotype" panose="02040502050505030304" pitchFamily="18" charset="0"/>
              </a:rPr>
              <a:t>modes are </a:t>
            </a:r>
            <a:r>
              <a:rPr lang="en-US" altLang="en-US" sz="2000" i="1" dirty="0">
                <a:solidFill>
                  <a:schemeClr val="bg1"/>
                </a:solidFill>
                <a:latin typeface="Palatino Linotype" panose="02040502050505030304" pitchFamily="18" charset="0"/>
              </a:rPr>
              <a:t>in</a:t>
            </a:r>
            <a:r>
              <a:rPr lang="en-US" altLang="en-US" sz="2000" dirty="0">
                <a:solidFill>
                  <a:schemeClr val="bg1"/>
                </a:solidFill>
                <a:latin typeface="Palatino Linotype" panose="02040502050505030304" pitchFamily="18" charset="0"/>
              </a:rPr>
              <a:t> substances and </a:t>
            </a:r>
            <a:r>
              <a:rPr lang="en-US" altLang="en-US" sz="2000" i="1" dirty="0">
                <a:solidFill>
                  <a:schemeClr val="bg1"/>
                </a:solidFill>
                <a:latin typeface="Palatino Linotype" panose="02040502050505030304" pitchFamily="18" charset="0"/>
              </a:rPr>
              <a:t>conceived through </a:t>
            </a:r>
            <a:r>
              <a:rPr lang="en-US" altLang="en-US" sz="2000" dirty="0">
                <a:solidFill>
                  <a:schemeClr val="bg1"/>
                </a:solidFill>
                <a:latin typeface="Palatino Linotype" panose="02040502050505030304" pitchFamily="18" charset="0"/>
              </a:rPr>
              <a:t>substances</a:t>
            </a:r>
          </a:p>
          <a:p>
            <a:pPr lvl="1" eaLnBrk="1" hangingPunct="1">
              <a:lnSpc>
                <a:spcPct val="90000"/>
              </a:lnSpc>
            </a:pPr>
            <a:r>
              <a:rPr lang="en-US" altLang="en-US" sz="2000" dirty="0">
                <a:solidFill>
                  <a:schemeClr val="bg1"/>
                </a:solidFill>
                <a:latin typeface="Palatino Linotype" panose="02040502050505030304" pitchFamily="18" charset="0"/>
              </a:rPr>
              <a:t>this is just the definition of ‘substance’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1d3) and the definition of ‘mode’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1d5)</a:t>
            </a:r>
          </a:p>
          <a:p>
            <a:pPr eaLnBrk="1" hangingPunct="1">
              <a:lnSpc>
                <a:spcPct val="90000"/>
              </a:lnSpc>
            </a:pPr>
            <a:r>
              <a:rPr lang="en-US" altLang="en-US" sz="2200" dirty="0">
                <a:solidFill>
                  <a:schemeClr val="bg1"/>
                </a:solidFill>
                <a:latin typeface="Palatino Linotype" panose="02040502050505030304" pitchFamily="18" charset="0"/>
              </a:rPr>
              <a:t>What Spinoza might be getting at already:</a:t>
            </a:r>
          </a:p>
          <a:p>
            <a:pPr lvl="1" eaLnBrk="1" hangingPunct="1">
              <a:lnSpc>
                <a:spcPct val="90000"/>
              </a:lnSpc>
            </a:pPr>
            <a:r>
              <a:rPr lang="en-US" altLang="en-US" sz="2000" dirty="0">
                <a:solidFill>
                  <a:schemeClr val="bg1"/>
                </a:solidFill>
                <a:latin typeface="Palatino Linotype" panose="02040502050505030304" pitchFamily="18" charset="0"/>
              </a:rPr>
              <a:t>each substance is what it is, prior to and independent of its modes</a:t>
            </a:r>
          </a:p>
        </p:txBody>
      </p:sp>
    </p:spTree>
    <p:extLst>
      <p:ext uri="{BB962C8B-B14F-4D97-AF65-F5344CB8AC3E}">
        <p14:creationId xmlns:p14="http://schemas.microsoft.com/office/powerpoint/2010/main" val="354700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600" i="1" dirty="0">
                <a:solidFill>
                  <a:schemeClr val="bg1"/>
                </a:solidFill>
                <a:latin typeface="Palatino Linotype" panose="02040502050505030304" pitchFamily="18" charset="0"/>
              </a:rPr>
              <a:t>E</a:t>
            </a:r>
            <a:r>
              <a:rPr lang="en-US" altLang="en-US" sz="3600" dirty="0">
                <a:solidFill>
                  <a:schemeClr val="bg1"/>
                </a:solidFill>
                <a:latin typeface="Palatino Linotype" panose="02040502050505030304" pitchFamily="18" charset="0"/>
              </a:rPr>
              <a:t>1p2: substances differing by attribute have nothing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“Two substances whose attributes are different                                 have nothing in common.”</a:t>
            </a:r>
          </a:p>
          <a:p>
            <a:pPr eaLnBrk="1" hangingPunct="1">
              <a:lnSpc>
                <a:spcPct val="90000"/>
              </a:lnSpc>
            </a:pPr>
            <a:r>
              <a:rPr lang="en-US" altLang="en-US" sz="2200" dirty="0">
                <a:solidFill>
                  <a:schemeClr val="bg1"/>
                </a:solidFill>
                <a:latin typeface="Palatino Linotype" panose="02040502050505030304" pitchFamily="18" charset="0"/>
              </a:rPr>
              <a:t>Think of what Descartes would say about a mind and a body:</a:t>
            </a:r>
          </a:p>
          <a:p>
            <a:pPr lvl="1" eaLnBrk="1" hangingPunct="1">
              <a:lnSpc>
                <a:spcPct val="90000"/>
              </a:lnSpc>
            </a:pPr>
            <a:r>
              <a:rPr lang="en-US" altLang="en-US" sz="2000" dirty="0">
                <a:solidFill>
                  <a:schemeClr val="bg1"/>
                </a:solidFill>
                <a:latin typeface="Palatino Linotype" panose="02040502050505030304" pitchFamily="18" charset="0"/>
              </a:rPr>
              <a:t>Minds and bodies have completely different attributes: </a:t>
            </a:r>
            <a:r>
              <a:rPr lang="en-US" altLang="en-US" sz="1600" dirty="0">
                <a:solidFill>
                  <a:schemeClr val="bg1"/>
                </a:solidFill>
                <a:latin typeface="Palatino Linotype" panose="02040502050505030304" pitchFamily="18" charset="0"/>
              </a:rPr>
              <a:t>THOUGHT</a:t>
            </a:r>
            <a:r>
              <a:rPr lang="en-US" altLang="en-US" sz="2000" dirty="0">
                <a:solidFill>
                  <a:schemeClr val="bg1"/>
                </a:solidFill>
                <a:latin typeface="Palatino Linotype" panose="02040502050505030304" pitchFamily="18" charset="0"/>
              </a:rPr>
              <a:t> and </a:t>
            </a:r>
            <a:r>
              <a:rPr lang="en-US" altLang="en-US" sz="1600" dirty="0">
                <a:solidFill>
                  <a:schemeClr val="bg1"/>
                </a:solidFill>
                <a:latin typeface="Palatino Linotype" panose="02040502050505030304" pitchFamily="18" charset="0"/>
              </a:rPr>
              <a:t>EXTENSION</a:t>
            </a:r>
            <a:r>
              <a:rPr lang="en-US" altLang="en-US" sz="2000" dirty="0">
                <a:solidFill>
                  <a:schemeClr val="bg1"/>
                </a:solidFill>
                <a:latin typeface="Palatino Linotype" panose="02040502050505030304" pitchFamily="18" charset="0"/>
              </a:rPr>
              <a:t>.</a:t>
            </a:r>
          </a:p>
          <a:p>
            <a:pPr lvl="1" eaLnBrk="1" hangingPunct="1">
              <a:lnSpc>
                <a:spcPct val="90000"/>
              </a:lnSpc>
            </a:pPr>
            <a:r>
              <a:rPr lang="en-US" altLang="en-US" sz="2000" dirty="0">
                <a:solidFill>
                  <a:schemeClr val="bg1"/>
                </a:solidFill>
                <a:latin typeface="Palatino Linotype" panose="02040502050505030304" pitchFamily="18" charset="0"/>
              </a:rPr>
              <a:t>Minds and bodies have completely different modes: all a mind’s modes are </a:t>
            </a:r>
            <a:r>
              <a:rPr lang="en-US" altLang="en-US" sz="2000" i="1" dirty="0">
                <a:solidFill>
                  <a:schemeClr val="bg1"/>
                </a:solidFill>
                <a:latin typeface="Palatino Linotype" panose="02040502050505030304" pitchFamily="18" charset="0"/>
              </a:rPr>
              <a:t>thoughts, ideas, etc</a:t>
            </a:r>
            <a:r>
              <a:rPr lang="en-US" altLang="en-US" sz="2000" dirty="0">
                <a:solidFill>
                  <a:schemeClr val="bg1"/>
                </a:solidFill>
                <a:latin typeface="Palatino Linotype" panose="02040502050505030304" pitchFamily="18" charset="0"/>
              </a:rPr>
              <a:t>., all a body’s modes are </a:t>
            </a:r>
            <a:r>
              <a:rPr lang="en-US" altLang="en-US" sz="2000" i="1" dirty="0">
                <a:solidFill>
                  <a:schemeClr val="bg1"/>
                </a:solidFill>
                <a:latin typeface="Palatino Linotype" panose="02040502050505030304" pitchFamily="18" charset="0"/>
              </a:rPr>
              <a:t>shapes, motions, etc</a:t>
            </a:r>
            <a:r>
              <a:rPr lang="en-US" altLang="en-US" sz="2000" dirty="0">
                <a:solidFill>
                  <a:schemeClr val="bg1"/>
                </a:solidFill>
                <a:latin typeface="Palatino Linotype" panose="02040502050505030304" pitchFamily="18" charset="0"/>
              </a:rPr>
              <a:t>.</a:t>
            </a:r>
          </a:p>
          <a:p>
            <a:pPr eaLnBrk="1" hangingPunct="1">
              <a:lnSpc>
                <a:spcPct val="90000"/>
              </a:lnSpc>
            </a:pPr>
            <a:r>
              <a:rPr lang="en-US" altLang="en-US" sz="2200" dirty="0">
                <a:solidFill>
                  <a:schemeClr val="bg1"/>
                </a:solidFill>
                <a:latin typeface="Palatino Linotype" panose="02040502050505030304" pitchFamily="18" charset="0"/>
              </a:rPr>
              <a:t>Different substances of different types, of different natures, with different attributes, are utterly different from each other:</a:t>
            </a:r>
          </a:p>
          <a:p>
            <a:pPr lvl="1" eaLnBrk="1" hangingPunct="1">
              <a:lnSpc>
                <a:spcPct val="90000"/>
              </a:lnSpc>
            </a:pPr>
            <a:r>
              <a:rPr lang="en-US" altLang="en-US" sz="2000" i="1" dirty="0">
                <a:solidFill>
                  <a:schemeClr val="bg1"/>
                </a:solidFill>
                <a:latin typeface="Palatino Linotype" panose="02040502050505030304" pitchFamily="18" charset="0"/>
              </a:rPr>
              <a:t>alternatively:</a:t>
            </a:r>
            <a:r>
              <a:rPr lang="en-US" altLang="en-US" sz="2000" dirty="0">
                <a:solidFill>
                  <a:schemeClr val="bg1"/>
                </a:solidFill>
                <a:latin typeface="Palatino Linotype" panose="02040502050505030304" pitchFamily="18" charset="0"/>
              </a:rPr>
              <a:t> for two substances to have anything in common with each other, they need to at least have the same </a:t>
            </a:r>
            <a:r>
              <a:rPr lang="en-US" altLang="en-US" sz="2000" i="1" dirty="0">
                <a:solidFill>
                  <a:schemeClr val="bg1"/>
                </a:solidFill>
                <a:latin typeface="Palatino Linotype" panose="02040502050505030304" pitchFamily="18" charset="0"/>
              </a:rPr>
              <a:t>attribute</a:t>
            </a:r>
            <a:r>
              <a:rPr lang="en-US" altLang="en-US" sz="2000" dirty="0">
                <a:solidFill>
                  <a:schemeClr val="bg1"/>
                </a:solidFill>
                <a:latin typeface="Palatino Linotype" panose="02040502050505030304" pitchFamily="18" charset="0"/>
              </a:rPr>
              <a:t> (e.g., in the Cartesian system, only a same-attribute pair like two bodies or two minds could have something in common)</a:t>
            </a:r>
          </a:p>
        </p:txBody>
      </p:sp>
    </p:spTree>
    <p:extLst>
      <p:ext uri="{BB962C8B-B14F-4D97-AF65-F5344CB8AC3E}">
        <p14:creationId xmlns:p14="http://schemas.microsoft.com/office/powerpoint/2010/main" val="337664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337596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800" i="1" dirty="0">
                <a:solidFill>
                  <a:schemeClr val="bg1"/>
                </a:solidFill>
                <a:latin typeface="Palatino Linotype" panose="02040502050505030304" pitchFamily="18" charset="0"/>
              </a:rPr>
              <a:t>E</a:t>
            </a:r>
            <a:r>
              <a:rPr lang="en-US" altLang="en-US" sz="3800" dirty="0">
                <a:solidFill>
                  <a:schemeClr val="bg1"/>
                </a:solidFill>
                <a:latin typeface="Palatino Linotype" panose="02040502050505030304" pitchFamily="18" charset="0"/>
              </a:rPr>
              <a:t>1p3: cause and effect must have something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“Things that have nothing in common</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cannot be the cause of one another.”</a:t>
            </a:r>
          </a:p>
          <a:p>
            <a:pPr eaLnBrk="1" hangingPunct="1">
              <a:lnSpc>
                <a:spcPct val="90000"/>
              </a:lnSpc>
            </a:pPr>
            <a:r>
              <a:rPr lang="en-US" altLang="en-US" sz="2200" spc="-30" dirty="0">
                <a:solidFill>
                  <a:schemeClr val="bg1"/>
                </a:solidFill>
                <a:latin typeface="Palatino Linotype" panose="02040502050505030304" pitchFamily="18" charset="0"/>
              </a:rPr>
              <a:t>Remember, causal relations go with conceptual relations (</a:t>
            </a:r>
            <a:r>
              <a:rPr lang="en-US" altLang="en-US" sz="2200" i="1" spc="-30" dirty="0">
                <a:solidFill>
                  <a:schemeClr val="bg1"/>
                </a:solidFill>
                <a:latin typeface="Palatino Linotype" panose="02040502050505030304" pitchFamily="18" charset="0"/>
              </a:rPr>
              <a:t>E</a:t>
            </a:r>
            <a:r>
              <a:rPr lang="en-US" altLang="en-US" sz="2200" spc="-30" dirty="0">
                <a:solidFill>
                  <a:schemeClr val="bg1"/>
                </a:solidFill>
                <a:latin typeface="Palatino Linotype" panose="02040502050505030304" pitchFamily="18" charset="0"/>
              </a:rPr>
              <a:t>1a4):</a:t>
            </a:r>
          </a:p>
          <a:p>
            <a:pPr lvl="1" eaLnBrk="1" hangingPunct="1">
              <a:lnSpc>
                <a:spcPct val="90000"/>
              </a:lnSpc>
            </a:pPr>
            <a:r>
              <a:rPr lang="en-US" altLang="en-US" sz="2000" dirty="0">
                <a:solidFill>
                  <a:schemeClr val="bg1"/>
                </a:solidFill>
                <a:latin typeface="Palatino Linotype" panose="02040502050505030304" pitchFamily="18" charset="0"/>
              </a:rPr>
              <a:t>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caused by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then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conceived through </a:t>
            </a:r>
            <a:r>
              <a:rPr lang="en-US" altLang="en-US" sz="2000" i="1" dirty="0">
                <a:solidFill>
                  <a:schemeClr val="bg1"/>
                </a:solidFill>
                <a:latin typeface="Palatino Linotype" panose="02040502050505030304" pitchFamily="18" charset="0"/>
              </a:rPr>
              <a:t>B</a:t>
            </a:r>
            <a:endParaRPr lang="en-US" altLang="en-US" sz="2000" dirty="0">
              <a:solidFill>
                <a:schemeClr val="bg1"/>
              </a:solidFill>
              <a:latin typeface="Palatino Linotype" panose="02040502050505030304" pitchFamily="18" charset="0"/>
            </a:endParaRPr>
          </a:p>
          <a:p>
            <a:pPr lvl="1" eaLnBrk="1" hangingPunct="1">
              <a:lnSpc>
                <a:spcPct val="90000"/>
              </a:lnSpc>
            </a:pPr>
            <a:r>
              <a:rPr lang="en-US" altLang="en-US" sz="2000" dirty="0">
                <a:solidFill>
                  <a:schemeClr val="bg1"/>
                </a:solidFill>
                <a:latin typeface="Palatino Linotype" panose="02040502050505030304" pitchFamily="18" charset="0"/>
              </a:rPr>
              <a:t>an effect can be understood only in terms of its cause</a:t>
            </a:r>
          </a:p>
          <a:p>
            <a:pPr lvl="1" eaLnBrk="1" hangingPunct="1">
              <a:lnSpc>
                <a:spcPct val="90000"/>
              </a:lnSpc>
            </a:pPr>
            <a:r>
              <a:rPr lang="en-US" altLang="en-US" sz="2000" dirty="0">
                <a:solidFill>
                  <a:schemeClr val="bg1"/>
                </a:solidFill>
                <a:latin typeface="Palatino Linotype" panose="02040502050505030304" pitchFamily="18" charset="0"/>
              </a:rPr>
              <a:t>“The knowledge [</a:t>
            </a:r>
            <a:r>
              <a:rPr lang="en-US" altLang="en-US" sz="2000" i="1" dirty="0" err="1">
                <a:solidFill>
                  <a:schemeClr val="bg1"/>
                </a:solidFill>
                <a:latin typeface="Palatino Linotype" panose="02040502050505030304" pitchFamily="18" charset="0"/>
              </a:rPr>
              <a:t>cognitio</a:t>
            </a:r>
            <a:r>
              <a:rPr lang="en-US" altLang="en-US" sz="2000" dirty="0">
                <a:solidFill>
                  <a:schemeClr val="bg1"/>
                </a:solidFill>
                <a:latin typeface="Palatino Linotype" panose="02040502050505030304" pitchFamily="18" charset="0"/>
              </a:rPr>
              <a:t>] of an effect depends on and involves the knowledge of a cause.”</a:t>
            </a:r>
          </a:p>
          <a:p>
            <a:pPr eaLnBrk="1" hangingPunct="1">
              <a:lnSpc>
                <a:spcPct val="90000"/>
              </a:lnSpc>
            </a:pPr>
            <a:r>
              <a:rPr lang="en-US" altLang="en-US" sz="2200" dirty="0">
                <a:solidFill>
                  <a:schemeClr val="bg1"/>
                </a:solidFill>
                <a:latin typeface="Palatino Linotype" panose="02040502050505030304" pitchFamily="18" charset="0"/>
              </a:rPr>
              <a:t>And conceptual relations go with having something in common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1a5):</a:t>
            </a:r>
          </a:p>
          <a:p>
            <a:pPr lvl="1" eaLnBrk="1" hangingPunct="1">
              <a:lnSpc>
                <a:spcPct val="90000"/>
              </a:lnSpc>
            </a:pPr>
            <a:r>
              <a:rPr lang="en-US" altLang="en-US" sz="2000" dirty="0">
                <a:solidFill>
                  <a:schemeClr val="bg1"/>
                </a:solidFill>
                <a:latin typeface="Palatino Linotype" panose="02040502050505030304" pitchFamily="18" charset="0"/>
              </a:rPr>
              <a:t>how could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be conceived through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had nothing in common with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(perhaps, e.g., a ball’s shape and the ball itself)</a:t>
            </a:r>
          </a:p>
          <a:p>
            <a:pPr lvl="1" eaLnBrk="1" hangingPunct="1">
              <a:lnSpc>
                <a:spcPct val="90000"/>
              </a:lnSpc>
            </a:pPr>
            <a:r>
              <a:rPr lang="en-US" altLang="en-US" sz="2000" dirty="0">
                <a:solidFill>
                  <a:schemeClr val="bg1"/>
                </a:solidFill>
                <a:latin typeface="Palatino Linotype" panose="02040502050505030304" pitchFamily="18" charset="0"/>
              </a:rPr>
              <a:t>“Things that have nothing in common cannot be understood [</a:t>
            </a:r>
            <a:r>
              <a:rPr lang="en-US" altLang="en-US" sz="2000" i="1" dirty="0" err="1">
                <a:solidFill>
                  <a:schemeClr val="bg1"/>
                </a:solidFill>
                <a:latin typeface="Palatino Linotype" panose="02040502050505030304" pitchFamily="18" charset="0"/>
              </a:rPr>
              <a:t>intelligi</a:t>
            </a:r>
            <a:r>
              <a:rPr lang="en-US" altLang="en-US" sz="2000" dirty="0">
                <a:solidFill>
                  <a:schemeClr val="bg1"/>
                </a:solidFill>
                <a:latin typeface="Palatino Linotype" panose="02040502050505030304" pitchFamily="18" charset="0"/>
              </a:rPr>
              <a:t>] by means of one another; in other words, the concept of one does not involve the concept of the other.”</a:t>
            </a:r>
          </a:p>
        </p:txBody>
      </p:sp>
    </p:spTree>
    <p:extLst>
      <p:ext uri="{BB962C8B-B14F-4D97-AF65-F5344CB8AC3E}">
        <p14:creationId xmlns:p14="http://schemas.microsoft.com/office/powerpoint/2010/main" val="402583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558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4000551D-5177-461B-ACB2-852BF2E45658}"/>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80497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lnSpc>
                <a:spcPct val="90000"/>
              </a:lnSpc>
            </a:pPr>
            <a:r>
              <a:rPr lang="en-US" altLang="en-US" sz="3800" i="1" dirty="0">
                <a:solidFill>
                  <a:schemeClr val="bg1"/>
                </a:solidFill>
                <a:latin typeface="Palatino Linotype" panose="02040502050505030304" pitchFamily="18" charset="0"/>
              </a:rPr>
              <a:t>E</a:t>
            </a:r>
            <a:r>
              <a:rPr lang="en-US" altLang="en-US" sz="3800" dirty="0">
                <a:solidFill>
                  <a:schemeClr val="bg1"/>
                </a:solidFill>
                <a:latin typeface="Palatino Linotype" panose="02040502050505030304" pitchFamily="18" charset="0"/>
              </a:rPr>
              <a:t>1p4: distinctness is due to differing attributes or differing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800"/>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“Two or more distinct things are distinguished from one another either by the difference of the attributes of the substances</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or by the difference of their modifications.”</a:t>
            </a:r>
          </a:p>
          <a:p>
            <a:pPr eaLnBrk="1" hangingPunct="1">
              <a:lnSpc>
                <a:spcPct val="90000"/>
              </a:lnSpc>
            </a:pPr>
            <a:r>
              <a:rPr lang="en-US" altLang="en-US" sz="2200" spc="-60" dirty="0">
                <a:solidFill>
                  <a:schemeClr val="bg1"/>
                </a:solidFill>
                <a:latin typeface="Palatino Linotype" panose="02040502050505030304" pitchFamily="18" charset="0"/>
              </a:rPr>
              <a:t>Spinoza assumes that if </a:t>
            </a:r>
            <a:r>
              <a:rPr lang="en-US" altLang="en-US" sz="2200" i="1" spc="-60" dirty="0">
                <a:solidFill>
                  <a:schemeClr val="bg1"/>
                </a:solidFill>
                <a:latin typeface="Palatino Linotype" panose="02040502050505030304" pitchFamily="18" charset="0"/>
              </a:rPr>
              <a:t>A</a:t>
            </a:r>
            <a:r>
              <a:rPr lang="en-US" altLang="en-US" sz="2200" spc="-60" dirty="0">
                <a:solidFill>
                  <a:schemeClr val="bg1"/>
                </a:solidFill>
                <a:latin typeface="Palatino Linotype" panose="02040502050505030304" pitchFamily="18" charset="0"/>
              </a:rPr>
              <a:t> ≠ </a:t>
            </a:r>
            <a:r>
              <a:rPr lang="en-US" altLang="en-US" sz="2200" i="1" spc="-60" dirty="0">
                <a:solidFill>
                  <a:schemeClr val="bg1"/>
                </a:solidFill>
                <a:latin typeface="Palatino Linotype" panose="02040502050505030304" pitchFamily="18" charset="0"/>
              </a:rPr>
              <a:t>B</a:t>
            </a:r>
            <a:r>
              <a:rPr lang="en-US" altLang="en-US" sz="2200" spc="-60" dirty="0">
                <a:solidFill>
                  <a:schemeClr val="bg1"/>
                </a:solidFill>
                <a:latin typeface="Palatino Linotype" panose="02040502050505030304" pitchFamily="18" charset="0"/>
              </a:rPr>
              <a:t>, then </a:t>
            </a:r>
            <a:r>
              <a:rPr lang="en-US" altLang="en-US" sz="2200" i="1" spc="-60" dirty="0">
                <a:solidFill>
                  <a:schemeClr val="bg1"/>
                </a:solidFill>
                <a:latin typeface="Palatino Linotype" panose="02040502050505030304" pitchFamily="18" charset="0"/>
              </a:rPr>
              <a:t>A</a:t>
            </a:r>
            <a:r>
              <a:rPr lang="en-US" altLang="en-US" sz="2200" spc="-60" dirty="0">
                <a:solidFill>
                  <a:schemeClr val="bg1"/>
                </a:solidFill>
                <a:latin typeface="Palatino Linotype" panose="02040502050505030304" pitchFamily="18" charset="0"/>
              </a:rPr>
              <a:t> and </a:t>
            </a:r>
            <a:r>
              <a:rPr lang="en-US" altLang="en-US" sz="2200" i="1" spc="-60" dirty="0">
                <a:solidFill>
                  <a:schemeClr val="bg1"/>
                </a:solidFill>
                <a:latin typeface="Palatino Linotype" panose="02040502050505030304" pitchFamily="18" charset="0"/>
              </a:rPr>
              <a:t>B</a:t>
            </a:r>
            <a:r>
              <a:rPr lang="en-US" altLang="en-US" sz="2200" spc="-60" dirty="0">
                <a:solidFill>
                  <a:schemeClr val="bg1"/>
                </a:solidFill>
                <a:latin typeface="Palatino Linotype" panose="02040502050505030304" pitchFamily="18" charset="0"/>
              </a:rPr>
              <a:t> must differ somehow:</a:t>
            </a:r>
          </a:p>
          <a:p>
            <a:pPr lvl="1" eaLnBrk="1" hangingPunct="1">
              <a:lnSpc>
                <a:spcPct val="90000"/>
              </a:lnSpc>
            </a:pPr>
            <a:r>
              <a:rPr lang="en-US" altLang="en-US" sz="2000" dirty="0">
                <a:solidFill>
                  <a:schemeClr val="bg1"/>
                </a:solidFill>
                <a:latin typeface="Palatino Linotype" panose="02040502050505030304" pitchFamily="18" charset="0"/>
              </a:rPr>
              <a:t>for any distinct pair, the distinctness needs an explanation in terms of the two differing somehow, being </a:t>
            </a:r>
            <a:r>
              <a:rPr lang="en-US" altLang="en-US" sz="2000" i="1" dirty="0">
                <a:solidFill>
                  <a:schemeClr val="bg1"/>
                </a:solidFill>
                <a:latin typeface="Palatino Linotype" panose="02040502050505030304" pitchFamily="18" charset="0"/>
              </a:rPr>
              <a:t>discernible</a:t>
            </a:r>
          </a:p>
          <a:p>
            <a:pPr lvl="1" eaLnBrk="1" hangingPunct="1">
              <a:lnSpc>
                <a:spcPct val="90000"/>
              </a:lnSpc>
            </a:pPr>
            <a:r>
              <a:rPr lang="en-US" altLang="en-US" sz="2000" dirty="0">
                <a:solidFill>
                  <a:schemeClr val="bg1"/>
                </a:solidFill>
                <a:latin typeface="Palatino Linotype" panose="02040502050505030304" pitchFamily="18" charset="0"/>
              </a:rPr>
              <a:t>no identical twins / identity of indiscernibles</a:t>
            </a:r>
          </a:p>
          <a:p>
            <a:pPr eaLnBrk="1" hangingPunct="1">
              <a:lnSpc>
                <a:spcPct val="90000"/>
              </a:lnSpc>
            </a:pPr>
            <a:r>
              <a:rPr lang="en-US" altLang="en-US" sz="2200" dirty="0">
                <a:solidFill>
                  <a:schemeClr val="bg1"/>
                </a:solidFill>
                <a:latin typeface="Palatino Linotype" panose="02040502050505030304" pitchFamily="18" charset="0"/>
              </a:rPr>
              <a:t>Nothing in the world other than substances and modes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1a1)</a:t>
            </a:r>
          </a:p>
          <a:p>
            <a:pPr eaLnBrk="1" hangingPunct="1">
              <a:lnSpc>
                <a:spcPct val="90000"/>
              </a:lnSpc>
            </a:pPr>
            <a:r>
              <a:rPr lang="en-US" altLang="en-US" sz="2200" dirty="0">
                <a:solidFill>
                  <a:schemeClr val="bg1"/>
                </a:solidFill>
                <a:latin typeface="Palatino Linotype" panose="02040502050505030304" pitchFamily="18" charset="0"/>
              </a:rPr>
              <a:t>Only two possible ways for </a:t>
            </a:r>
            <a:r>
              <a:rPr lang="en-US" altLang="en-US" sz="2200" i="1" dirty="0">
                <a:solidFill>
                  <a:schemeClr val="bg1"/>
                </a:solidFill>
                <a:latin typeface="Palatino Linotype" panose="02040502050505030304" pitchFamily="18" charset="0"/>
              </a:rPr>
              <a:t>A</a:t>
            </a:r>
            <a:r>
              <a:rPr lang="en-US" altLang="en-US" sz="2200" dirty="0">
                <a:solidFill>
                  <a:schemeClr val="bg1"/>
                </a:solidFill>
                <a:latin typeface="Palatino Linotype" panose="02040502050505030304" pitchFamily="18" charset="0"/>
              </a:rPr>
              <a:t> and </a:t>
            </a:r>
            <a:r>
              <a:rPr lang="en-US" altLang="en-US" sz="2200" i="1" dirty="0">
                <a:solidFill>
                  <a:schemeClr val="bg1"/>
                </a:solidFill>
                <a:latin typeface="Palatino Linotype" panose="02040502050505030304" pitchFamily="18" charset="0"/>
              </a:rPr>
              <a:t>B</a:t>
            </a:r>
            <a:r>
              <a:rPr lang="en-US" altLang="en-US" sz="2200" dirty="0">
                <a:solidFill>
                  <a:schemeClr val="bg1"/>
                </a:solidFill>
                <a:latin typeface="Palatino Linotype" panose="02040502050505030304" pitchFamily="18" charset="0"/>
              </a:rPr>
              <a:t> to differ:</a:t>
            </a:r>
          </a:p>
          <a:p>
            <a:pPr lvl="1" eaLnBrk="1" hangingPunct="1">
              <a:lnSpc>
                <a:spcPct val="90000"/>
              </a:lnSpc>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in their </a:t>
            </a:r>
            <a:r>
              <a:rPr lang="en-US" altLang="en-US" sz="2000" i="1" dirty="0">
                <a:solidFill>
                  <a:schemeClr val="bg1"/>
                </a:solidFill>
                <a:latin typeface="Palatino Linotype" panose="02040502050505030304" pitchFamily="18" charset="0"/>
              </a:rPr>
              <a:t>attributes</a:t>
            </a:r>
            <a:r>
              <a:rPr lang="en-US" altLang="en-US" sz="2000" dirty="0">
                <a:solidFill>
                  <a:schemeClr val="bg1"/>
                </a:solidFill>
                <a:latin typeface="Palatino Linotype" panose="02040502050505030304" pitchFamily="18" charset="0"/>
              </a:rPr>
              <a:t>: e.g.,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 mind,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is a body</a:t>
            </a:r>
          </a:p>
          <a:p>
            <a:pPr marL="914400" lvl="2" indent="0" eaLnBrk="1" hangingPunct="1">
              <a:lnSpc>
                <a:spcPct val="90000"/>
              </a:lnSpc>
              <a:buNone/>
            </a:pPr>
            <a:r>
              <a:rPr lang="en-US" altLang="en-US" sz="2000" dirty="0">
                <a:solidFill>
                  <a:schemeClr val="bg1"/>
                </a:solidFill>
                <a:latin typeface="Palatino Linotype" panose="02040502050505030304" pitchFamily="18" charset="0"/>
              </a:rPr>
              <a:t>assuming some sort of equivalence between a substance and its attribute: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1d4: “By attribute I mean that which the intellect perceives about a substance as constituting its essence”</a:t>
            </a:r>
          </a:p>
          <a:p>
            <a:pPr lvl="1" eaLnBrk="1" hangingPunct="1">
              <a:lnSpc>
                <a:spcPct val="90000"/>
              </a:lnSpc>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only in their </a:t>
            </a:r>
            <a:r>
              <a:rPr lang="en-US" altLang="en-US" sz="2000" i="1" dirty="0">
                <a:solidFill>
                  <a:schemeClr val="bg1"/>
                </a:solidFill>
                <a:latin typeface="Palatino Linotype" panose="02040502050505030304" pitchFamily="18" charset="0"/>
              </a:rPr>
              <a:t>modes</a:t>
            </a:r>
            <a:r>
              <a:rPr lang="en-US" altLang="en-US" sz="2000" dirty="0">
                <a:solidFill>
                  <a:schemeClr val="bg1"/>
                </a:solidFill>
                <a:latin typeface="Palatino Linotype" panose="02040502050505030304" pitchFamily="18" charset="0"/>
              </a:rPr>
              <a:t> (they’re alike in attribute): e.g.,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are both minds and they have different thoughts</a:t>
            </a:r>
          </a:p>
        </p:txBody>
      </p:sp>
    </p:spTree>
    <p:extLst>
      <p:ext uri="{BB962C8B-B14F-4D97-AF65-F5344CB8AC3E}">
        <p14:creationId xmlns:p14="http://schemas.microsoft.com/office/powerpoint/2010/main" val="14162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4000551D-5177-461B-ACB2-852BF2E45658}"/>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17003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D200C7-B903-4D59-BE3F-A25DC6F80B62}"/>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915883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1p5: only one substance per attribute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173162"/>
            <a:ext cx="8229600" cy="4830763"/>
          </a:xfrm>
        </p:spPr>
        <p:txBody>
          <a:bodyPr/>
          <a:lstStyle/>
          <a:p>
            <a:pPr marL="0" indent="0" algn="ctr" eaLnBrk="1" hangingPunct="1">
              <a:lnSpc>
                <a:spcPct val="90000"/>
              </a:lnSpc>
              <a:spcBef>
                <a:spcPts val="700"/>
              </a:spcBef>
              <a:buNone/>
            </a:pPr>
            <a:r>
              <a:rPr lang="en-US" altLang="en-US" sz="2200" dirty="0">
                <a:solidFill>
                  <a:schemeClr val="bg1"/>
                </a:solidFill>
                <a:latin typeface="Palatino Linotype" panose="02040502050505030304" pitchFamily="18" charset="0"/>
              </a:rPr>
              <a:t>“There cannot exist in the universe two or more substances having the same nature or attribute.”</a:t>
            </a:r>
          </a:p>
          <a:p>
            <a:pPr eaLnBrk="1" hangingPunct="1">
              <a:lnSpc>
                <a:spcPct val="90000"/>
              </a:lnSpc>
              <a:spcBef>
                <a:spcPts val="700"/>
              </a:spcBef>
            </a:pPr>
            <a:r>
              <a:rPr lang="en-US" altLang="en-US" sz="2200" dirty="0">
                <a:solidFill>
                  <a:schemeClr val="bg1"/>
                </a:solidFill>
                <a:latin typeface="Palatino Linotype" panose="02040502050505030304" pitchFamily="18" charset="0"/>
              </a:rPr>
              <a:t>No two substances with the same attribute:</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can’t have two distinct minds, or two distinct bodies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can’t have two substances that differ only in their modes but have the same attribute</a:t>
            </a:r>
          </a:p>
          <a:p>
            <a:pPr eaLnBrk="1" hangingPunct="1">
              <a:lnSpc>
                <a:spcPct val="90000"/>
              </a:lnSpc>
              <a:spcBef>
                <a:spcPts val="700"/>
              </a:spcBef>
            </a:pPr>
            <a:r>
              <a:rPr lang="en-US" altLang="en-US" sz="2200" dirty="0">
                <a:solidFill>
                  <a:schemeClr val="bg1"/>
                </a:solidFill>
                <a:latin typeface="Palatino Linotype" panose="02040502050505030304" pitchFamily="18" charset="0"/>
              </a:rPr>
              <a:t>Can’t have two substances distinct due to differing in modes, because you can’t have modes be prior to substance:</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supposing that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only in modes, then what makes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the substance it is (as distinct from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is its modes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then the substance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would be what it is because of its modes!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“if by the difference of their modifications—as substance is naturally prior to its modifications (1p1)—it follows that if we set the modifications aside and consider substance in itself, that is, truly (1d3 and 1d6), it cannot be conceived as different from another”</a:t>
            </a:r>
          </a:p>
        </p:txBody>
      </p:sp>
    </p:spTree>
    <p:extLst>
      <p:ext uri="{BB962C8B-B14F-4D97-AF65-F5344CB8AC3E}">
        <p14:creationId xmlns:p14="http://schemas.microsoft.com/office/powerpoint/2010/main" val="412584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D200C7-B903-4D59-BE3F-A25DC6F80B62}"/>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2983682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FB24CB-48FB-4207-AD8D-A196D5ECECAF}"/>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240180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1p6: impossible for one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to produce [cause] another</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“One substance cannot be produced by another substance.”</a:t>
            </a:r>
          </a:p>
          <a:p>
            <a:pPr eaLnBrk="1" hangingPunct="1">
              <a:lnSpc>
                <a:spcPct val="90000"/>
              </a:lnSpc>
            </a:pPr>
            <a:r>
              <a:rPr lang="en-US" altLang="en-US" sz="2200" dirty="0">
                <a:solidFill>
                  <a:schemeClr val="bg1"/>
                </a:solidFill>
                <a:latin typeface="Palatino Linotype" panose="02040502050505030304" pitchFamily="18" charset="0"/>
              </a:rPr>
              <a:t>For </a:t>
            </a:r>
            <a:r>
              <a:rPr lang="en-US" altLang="en-US" sz="2200" i="1" dirty="0">
                <a:solidFill>
                  <a:schemeClr val="bg1"/>
                </a:solidFill>
                <a:latin typeface="Palatino Linotype" panose="02040502050505030304" pitchFamily="18" charset="0"/>
              </a:rPr>
              <a:t>A</a:t>
            </a:r>
            <a:r>
              <a:rPr lang="en-US" altLang="en-US" sz="2200" dirty="0">
                <a:solidFill>
                  <a:schemeClr val="bg1"/>
                </a:solidFill>
                <a:latin typeface="Palatino Linotype" panose="02040502050505030304" pitchFamily="18" charset="0"/>
              </a:rPr>
              <a:t> to produce </a:t>
            </a:r>
            <a:r>
              <a:rPr lang="en-US" altLang="en-US" sz="2200" i="1" dirty="0">
                <a:solidFill>
                  <a:schemeClr val="bg1"/>
                </a:solidFill>
                <a:latin typeface="Palatino Linotype" panose="02040502050505030304" pitchFamily="18" charset="0"/>
              </a:rPr>
              <a:t>B</a:t>
            </a:r>
            <a:r>
              <a:rPr lang="en-US" altLang="en-US" sz="2200" dirty="0">
                <a:solidFill>
                  <a:schemeClr val="bg1"/>
                </a:solidFill>
                <a:latin typeface="Palatino Linotype" panose="02040502050505030304" pitchFamily="18" charset="0"/>
              </a:rPr>
              <a:t>, the two must have something in common:</a:t>
            </a:r>
          </a:p>
          <a:p>
            <a:pPr lvl="1" eaLnBrk="1" hangingPunct="1">
              <a:lnSpc>
                <a:spcPct val="90000"/>
              </a:lnSpc>
            </a:pPr>
            <a:r>
              <a:rPr lang="en-US" altLang="en-US" sz="2000" dirty="0">
                <a:solidFill>
                  <a:schemeClr val="bg1"/>
                </a:solidFill>
                <a:latin typeface="Palatino Linotype" panose="02040502050505030304" pitchFamily="18" charset="0"/>
              </a:rPr>
              <a:t>“Things that have nothing in common cannot be the cause of one another”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1p3) [production = causation?]</a:t>
            </a:r>
          </a:p>
          <a:p>
            <a:pPr eaLnBrk="1" hangingPunct="1">
              <a:lnSpc>
                <a:spcPct val="90000"/>
              </a:lnSpc>
            </a:pPr>
            <a:r>
              <a:rPr lang="en-US" altLang="en-US" sz="2200" dirty="0">
                <a:solidFill>
                  <a:schemeClr val="bg1"/>
                </a:solidFill>
                <a:latin typeface="Palatino Linotype" panose="02040502050505030304" pitchFamily="18" charset="0"/>
              </a:rPr>
              <a:t>To have something in common, they must be alike in attribute:</a:t>
            </a:r>
          </a:p>
          <a:p>
            <a:pPr lvl="1" eaLnBrk="1" hangingPunct="1">
              <a:lnSpc>
                <a:spcPct val="90000"/>
              </a:lnSpc>
            </a:pPr>
            <a:r>
              <a:rPr lang="en-US" altLang="en-US" sz="2000" dirty="0">
                <a:solidFill>
                  <a:schemeClr val="bg1"/>
                </a:solidFill>
                <a:latin typeface="Palatino Linotype" panose="02040502050505030304" pitchFamily="18" charset="0"/>
              </a:rPr>
              <a:t>“Two substances whose attributes are different have nothing in common.”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1p2)</a:t>
            </a:r>
          </a:p>
          <a:p>
            <a:pPr eaLnBrk="1" hangingPunct="1">
              <a:lnSpc>
                <a:spcPct val="90000"/>
              </a:lnSpc>
            </a:pPr>
            <a:r>
              <a:rPr lang="en-US" altLang="en-US" sz="2200" dirty="0">
                <a:solidFill>
                  <a:schemeClr val="bg1"/>
                </a:solidFill>
                <a:latin typeface="Palatino Linotype" panose="02040502050505030304" pitchFamily="18" charset="0"/>
              </a:rPr>
              <a:t>But it’s impossible to have two distinct substances alike in attribute (differing only in their modes):</a:t>
            </a:r>
          </a:p>
          <a:p>
            <a:pPr lvl="1" eaLnBrk="1" hangingPunct="1">
              <a:lnSpc>
                <a:spcPct val="90000"/>
              </a:lnSpc>
            </a:pPr>
            <a:r>
              <a:rPr lang="en-US" altLang="en-US" sz="2000" dirty="0">
                <a:solidFill>
                  <a:schemeClr val="bg1"/>
                </a:solidFill>
                <a:latin typeface="Palatino Linotype" panose="02040502050505030304" pitchFamily="18" charset="0"/>
              </a:rPr>
              <a:t>“There cannot exist in the universe two or more substances having the same nature or attribute.”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1p5)</a:t>
            </a:r>
          </a:p>
          <a:p>
            <a:pPr eaLnBrk="1" hangingPunct="1">
              <a:lnSpc>
                <a:spcPct val="90000"/>
              </a:lnSpc>
            </a:pPr>
            <a:r>
              <a:rPr lang="en-US" altLang="en-US" sz="2200" dirty="0">
                <a:solidFill>
                  <a:schemeClr val="bg1"/>
                </a:solidFill>
                <a:latin typeface="Palatino Linotype" panose="02040502050505030304" pitchFamily="18" charset="0"/>
              </a:rPr>
              <a:t>So it’s impossible to have two distinct substances where one produces the other: no substance can be the causal product of some other substance</a:t>
            </a:r>
          </a:p>
        </p:txBody>
      </p:sp>
    </p:spTree>
    <p:extLst>
      <p:ext uri="{BB962C8B-B14F-4D97-AF65-F5344CB8AC3E}">
        <p14:creationId xmlns:p14="http://schemas.microsoft.com/office/powerpoint/2010/main" val="78751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1p6c: impossible for a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to be produced by </a:t>
            </a:r>
            <a:r>
              <a:rPr lang="en-US" altLang="en-US" sz="3500" i="1" dirty="0">
                <a:solidFill>
                  <a:schemeClr val="bg1"/>
                </a:solidFill>
                <a:latin typeface="Palatino Linotype" panose="02040502050505030304" pitchFamily="18" charset="0"/>
              </a:rPr>
              <a:t>any</a:t>
            </a:r>
            <a:r>
              <a:rPr lang="en-US" altLang="en-US" sz="3500" dirty="0">
                <a:solidFill>
                  <a:schemeClr val="bg1"/>
                </a:solidFill>
                <a:latin typeface="Palatino Linotype" panose="02040502050505030304" pitchFamily="18" charset="0"/>
              </a:rPr>
              <a:t> external cause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“a substance cannot be produced</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by anything other than itself”</a:t>
            </a:r>
          </a:p>
          <a:p>
            <a:pPr eaLnBrk="1" hangingPunct="1">
              <a:lnSpc>
                <a:spcPct val="90000"/>
              </a:lnSpc>
            </a:pPr>
            <a:r>
              <a:rPr lang="en-US" altLang="en-US" sz="2200" dirty="0">
                <a:solidFill>
                  <a:schemeClr val="bg1"/>
                </a:solidFill>
                <a:latin typeface="Palatino Linotype" panose="02040502050505030304" pitchFamily="18" charset="0"/>
              </a:rPr>
              <a:t>There’s nothing to produce a substance besides itself:</a:t>
            </a:r>
          </a:p>
          <a:p>
            <a:pPr lvl="1" eaLnBrk="1" hangingPunct="1">
              <a:lnSpc>
                <a:spcPct val="90000"/>
              </a:lnSpc>
            </a:pPr>
            <a:r>
              <a:rPr lang="en-US" altLang="en-US" sz="2000" dirty="0">
                <a:solidFill>
                  <a:schemeClr val="bg1"/>
                </a:solidFill>
                <a:latin typeface="Palatino Linotype" panose="02040502050505030304" pitchFamily="18" charset="0"/>
              </a:rPr>
              <a:t>another substance? no, we just disproved that</a:t>
            </a:r>
          </a:p>
          <a:p>
            <a:pPr lvl="1" eaLnBrk="1" hangingPunct="1">
              <a:lnSpc>
                <a:spcPct val="90000"/>
              </a:lnSpc>
            </a:pPr>
            <a:r>
              <a:rPr lang="en-US" altLang="en-US" sz="2000" dirty="0">
                <a:solidFill>
                  <a:schemeClr val="bg1"/>
                </a:solidFill>
                <a:latin typeface="Palatino Linotype" panose="02040502050505030304" pitchFamily="18" charset="0"/>
              </a:rPr>
              <a:t>a mode? no, a mode depends on a substance, not </a:t>
            </a:r>
            <a:r>
              <a:rPr lang="en-US" altLang="en-US" sz="2000" i="1" dirty="0">
                <a:solidFill>
                  <a:schemeClr val="bg1"/>
                </a:solidFill>
                <a:latin typeface="Palatino Linotype" panose="02040502050505030304" pitchFamily="18" charset="0"/>
              </a:rPr>
              <a:t>vice versa</a:t>
            </a:r>
          </a:p>
          <a:p>
            <a:pPr lvl="1" eaLnBrk="1" hangingPunct="1">
              <a:lnSpc>
                <a:spcPct val="90000"/>
              </a:lnSpc>
            </a:pPr>
            <a:r>
              <a:rPr lang="en-US" altLang="en-US" sz="2000" dirty="0">
                <a:solidFill>
                  <a:schemeClr val="bg1"/>
                </a:solidFill>
                <a:latin typeface="Palatino Linotype" panose="02040502050505030304" pitchFamily="18" charset="0"/>
              </a:rPr>
              <a:t>itself? yes, this is the only possible option</a:t>
            </a:r>
          </a:p>
          <a:p>
            <a:pPr lvl="1" eaLnBrk="1" hangingPunct="1">
              <a:lnSpc>
                <a:spcPct val="90000"/>
              </a:lnSpc>
            </a:pPr>
            <a:r>
              <a:rPr lang="en-US" altLang="en-US" sz="2000" dirty="0">
                <a:solidFill>
                  <a:schemeClr val="bg1"/>
                </a:solidFill>
                <a:latin typeface="Palatino Linotype" panose="02040502050505030304" pitchFamily="18" charset="0"/>
              </a:rPr>
              <a:t>Spinoza may already be assuming that for any substance there must be </a:t>
            </a:r>
            <a:r>
              <a:rPr lang="en-US" altLang="en-US" sz="2000" i="1" dirty="0">
                <a:solidFill>
                  <a:schemeClr val="bg1"/>
                </a:solidFill>
                <a:latin typeface="Palatino Linotype" panose="02040502050505030304" pitchFamily="18" charset="0"/>
              </a:rPr>
              <a:t>something</a:t>
            </a:r>
            <a:r>
              <a:rPr lang="en-US" altLang="en-US" sz="2000" dirty="0">
                <a:solidFill>
                  <a:schemeClr val="bg1"/>
                </a:solidFill>
                <a:latin typeface="Palatino Linotype" panose="02040502050505030304" pitchFamily="18" charset="0"/>
              </a:rPr>
              <a:t> which produces it.</a:t>
            </a:r>
          </a:p>
          <a:p>
            <a:pPr eaLnBrk="1" hangingPunct="1">
              <a:lnSpc>
                <a:spcPct val="90000"/>
              </a:lnSpc>
            </a:pPr>
            <a:r>
              <a:rPr lang="en-US" altLang="en-US" sz="2200" dirty="0">
                <a:solidFill>
                  <a:schemeClr val="bg1"/>
                </a:solidFill>
                <a:latin typeface="Palatino Linotype" panose="02040502050505030304" pitchFamily="18" charset="0"/>
              </a:rPr>
              <a:t>Also, causal dependence goes with conceptual dependence:</a:t>
            </a:r>
          </a:p>
          <a:p>
            <a:pPr lvl="1" eaLnBrk="1" hangingPunct="1">
              <a:lnSpc>
                <a:spcPct val="90000"/>
              </a:lnSpc>
            </a:pPr>
            <a:r>
              <a:rPr lang="en-US" altLang="en-US" sz="2000" dirty="0">
                <a:solidFill>
                  <a:schemeClr val="bg1"/>
                </a:solidFill>
                <a:latin typeface="Palatino Linotype" panose="02040502050505030304" pitchFamily="18" charset="0"/>
              </a:rPr>
              <a:t>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produced by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then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conceived through </a:t>
            </a:r>
            <a:r>
              <a:rPr lang="en-US" altLang="en-US" sz="2000" i="1" dirty="0">
                <a:solidFill>
                  <a:schemeClr val="bg1"/>
                </a:solidFill>
                <a:latin typeface="Palatino Linotype" panose="02040502050505030304" pitchFamily="18" charset="0"/>
              </a:rPr>
              <a:t>B</a:t>
            </a:r>
          </a:p>
          <a:p>
            <a:pPr marL="914400" lvl="2" indent="0" eaLnBrk="1" hangingPunct="1">
              <a:lnSpc>
                <a:spcPct val="90000"/>
              </a:lnSpc>
              <a:buNone/>
            </a:pPr>
            <a:r>
              <a:rPr lang="en-US" altLang="en-US" sz="2000" dirty="0">
                <a:solidFill>
                  <a:schemeClr val="bg1"/>
                </a:solidFill>
                <a:latin typeface="Palatino Linotype" panose="02040502050505030304" pitchFamily="18" charset="0"/>
              </a:rPr>
              <a:t>“The knowledge of an effect depends on and involves the knowledge of a cause”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1a4)</a:t>
            </a:r>
          </a:p>
          <a:p>
            <a:pPr lvl="1" eaLnBrk="1" hangingPunct="1">
              <a:lnSpc>
                <a:spcPct val="90000"/>
              </a:lnSpc>
            </a:pPr>
            <a:r>
              <a:rPr lang="en-US" altLang="en-US" sz="2000" dirty="0">
                <a:solidFill>
                  <a:schemeClr val="bg1"/>
                </a:solidFill>
                <a:latin typeface="Palatino Linotype" panose="02040502050505030304" pitchFamily="18" charset="0"/>
              </a:rPr>
              <a:t>but a substance is (by definition) conceived only through itself</a:t>
            </a:r>
          </a:p>
        </p:txBody>
      </p:sp>
    </p:spTree>
    <p:extLst>
      <p:ext uri="{BB962C8B-B14F-4D97-AF65-F5344CB8AC3E}">
        <p14:creationId xmlns:p14="http://schemas.microsoft.com/office/powerpoint/2010/main" val="295860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A67FAF-9179-4677-9C44-FBB00846D5FF}"/>
              </a:ext>
            </a:extLst>
          </p:cNvPr>
          <p:cNvPicPr>
            <a:picLocks noChangeAspect="1"/>
          </p:cNvPicPr>
          <p:nvPr/>
        </p:nvPicPr>
        <p:blipFill>
          <a:blip r:embed="rId2"/>
          <a:stretch>
            <a:fillRect/>
          </a:stretch>
        </p:blipFill>
        <p:spPr>
          <a:xfrm>
            <a:off x="0" y="1362075"/>
            <a:ext cx="9144000" cy="4133850"/>
          </a:xfrm>
          <a:prstGeom prst="rect">
            <a:avLst/>
          </a:prstGeom>
        </p:spPr>
      </p:pic>
      <p:pic>
        <p:nvPicPr>
          <p:cNvPr id="12" name="Picture 11">
            <a:extLst>
              <a:ext uri="{FF2B5EF4-FFF2-40B4-BE49-F238E27FC236}">
                <a16:creationId xmlns:a16="http://schemas.microsoft.com/office/drawing/2014/main" id="{0A149A7D-C8D2-41CB-BCF3-AC182ADC9071}"/>
              </a:ext>
            </a:extLst>
          </p:cNvPr>
          <p:cNvPicPr>
            <a:picLocks noChangeAspect="1"/>
          </p:cNvPicPr>
          <p:nvPr/>
        </p:nvPicPr>
        <p:blipFill>
          <a:blip r:embed="rId3"/>
          <a:stretch>
            <a:fillRect/>
          </a:stretch>
        </p:blipFill>
        <p:spPr>
          <a:xfrm>
            <a:off x="0" y="1362075"/>
            <a:ext cx="9144000" cy="4133850"/>
          </a:xfrm>
          <a:prstGeom prst="rect">
            <a:avLst/>
          </a:prstGeom>
        </p:spPr>
      </p:pic>
      <p:pic>
        <p:nvPicPr>
          <p:cNvPr id="14" name="Picture 13">
            <a:extLst>
              <a:ext uri="{FF2B5EF4-FFF2-40B4-BE49-F238E27FC236}">
                <a16:creationId xmlns:a16="http://schemas.microsoft.com/office/drawing/2014/main" id="{3F64FADD-029E-411F-9B9E-DFC492DE1A4F}"/>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2935548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2C13939-46D5-4E6B-80D8-B144DC827D5C}"/>
              </a:ext>
            </a:extLst>
          </p:cNvPr>
          <p:cNvPicPr>
            <a:picLocks noChangeAspect="1"/>
          </p:cNvPicPr>
          <p:nvPr/>
        </p:nvPicPr>
        <p:blipFill>
          <a:blip r:embed="rId2"/>
          <a:stretch>
            <a:fillRect/>
          </a:stretch>
        </p:blipFill>
        <p:spPr>
          <a:xfrm>
            <a:off x="0" y="1443037"/>
            <a:ext cx="9144000" cy="3971925"/>
          </a:xfrm>
          <a:prstGeom prst="rect">
            <a:avLst/>
          </a:prstGeom>
        </p:spPr>
      </p:pic>
      <p:pic>
        <p:nvPicPr>
          <p:cNvPr id="38" name="Picture 37">
            <a:extLst>
              <a:ext uri="{FF2B5EF4-FFF2-40B4-BE49-F238E27FC236}">
                <a16:creationId xmlns:a16="http://schemas.microsoft.com/office/drawing/2014/main" id="{CD4E2C83-E5B0-4F5F-B67C-E30A4F0BC02D}"/>
              </a:ext>
            </a:extLst>
          </p:cNvPr>
          <p:cNvPicPr>
            <a:picLocks noChangeAspect="1"/>
          </p:cNvPicPr>
          <p:nvPr/>
        </p:nvPicPr>
        <p:blipFill>
          <a:blip r:embed="rId3"/>
          <a:stretch>
            <a:fillRect/>
          </a:stretch>
        </p:blipFill>
        <p:spPr>
          <a:xfrm>
            <a:off x="0" y="1362075"/>
            <a:ext cx="9144000" cy="4133850"/>
          </a:xfrm>
          <a:prstGeom prst="rect">
            <a:avLst/>
          </a:prstGeom>
        </p:spPr>
      </p:pic>
      <p:pic>
        <p:nvPicPr>
          <p:cNvPr id="40" name="Picture 39">
            <a:extLst>
              <a:ext uri="{FF2B5EF4-FFF2-40B4-BE49-F238E27FC236}">
                <a16:creationId xmlns:a16="http://schemas.microsoft.com/office/drawing/2014/main" id="{D2155EAA-5F6C-4463-AE7C-596E15B61300}"/>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22318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1p7: substance has existence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belonging to its nature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“Existence belongs to the nature of a substance”</a:t>
            </a:r>
          </a:p>
          <a:p>
            <a:pPr eaLnBrk="1" hangingPunct="1">
              <a:lnSpc>
                <a:spcPct val="90000"/>
              </a:lnSpc>
            </a:pPr>
            <a:r>
              <a:rPr lang="en-US" altLang="en-US" sz="2200" dirty="0">
                <a:solidFill>
                  <a:schemeClr val="bg1"/>
                </a:solidFill>
                <a:latin typeface="Palatino Linotype" panose="02040502050505030304" pitchFamily="18" charset="0"/>
              </a:rPr>
              <a:t>Substance must be self-caused (a </a:t>
            </a:r>
            <a:r>
              <a:rPr lang="en-US" altLang="en-US" sz="2200" i="1" dirty="0">
                <a:solidFill>
                  <a:schemeClr val="bg1"/>
                </a:solidFill>
                <a:latin typeface="Palatino Linotype" panose="02040502050505030304" pitchFamily="18" charset="0"/>
              </a:rPr>
              <a:t>causa sui</a:t>
            </a:r>
            <a:r>
              <a:rPr lang="en-US" altLang="en-US" sz="2200" dirty="0">
                <a:solidFill>
                  <a:schemeClr val="bg1"/>
                </a:solidFill>
                <a:latin typeface="Palatino Linotype" panose="02040502050505030304" pitchFamily="18" charset="0"/>
              </a:rPr>
              <a:t>):</a:t>
            </a:r>
          </a:p>
          <a:p>
            <a:pPr lvl="1" eaLnBrk="1" hangingPunct="1">
              <a:lnSpc>
                <a:spcPct val="90000"/>
              </a:lnSpc>
            </a:pPr>
            <a:r>
              <a:rPr lang="en-US" altLang="en-US" sz="2000" dirty="0">
                <a:solidFill>
                  <a:schemeClr val="bg1"/>
                </a:solidFill>
                <a:latin typeface="Palatino Linotype" panose="02040502050505030304" pitchFamily="18" charset="0"/>
              </a:rPr>
              <a:t>it can’t be produced by anything else, so it can only be a </a:t>
            </a:r>
            <a:r>
              <a:rPr lang="en-US" altLang="en-US" sz="2000" i="1" dirty="0">
                <a:solidFill>
                  <a:schemeClr val="bg1"/>
                </a:solidFill>
                <a:latin typeface="Palatino Linotype" panose="02040502050505030304" pitchFamily="18" charset="0"/>
              </a:rPr>
              <a:t>causa sui</a:t>
            </a:r>
            <a:endParaRPr lang="en-US" altLang="en-US" sz="2000" dirty="0">
              <a:solidFill>
                <a:schemeClr val="bg1"/>
              </a:solidFill>
              <a:latin typeface="Palatino Linotype" panose="02040502050505030304" pitchFamily="18" charset="0"/>
            </a:endParaRPr>
          </a:p>
          <a:p>
            <a:pPr lvl="1" eaLnBrk="1" hangingPunct="1">
              <a:lnSpc>
                <a:spcPct val="90000"/>
              </a:lnSpc>
            </a:pPr>
            <a:r>
              <a:rPr lang="en-US" altLang="en-US" sz="2000" dirty="0">
                <a:solidFill>
                  <a:schemeClr val="bg1"/>
                </a:solidFill>
                <a:latin typeface="Palatino Linotype" panose="02040502050505030304" pitchFamily="18" charset="0"/>
              </a:rPr>
              <a:t>“By </a:t>
            </a:r>
            <a:r>
              <a:rPr lang="en-US" altLang="en-US" sz="2000" i="1" dirty="0">
                <a:solidFill>
                  <a:schemeClr val="bg1"/>
                </a:solidFill>
                <a:latin typeface="Palatino Linotype" panose="02040502050505030304" pitchFamily="18" charset="0"/>
              </a:rPr>
              <a:t>self-caused</a:t>
            </a:r>
            <a:r>
              <a:rPr lang="en-US" altLang="en-US" sz="2000" dirty="0">
                <a:solidFill>
                  <a:schemeClr val="bg1"/>
                </a:solidFill>
                <a:latin typeface="Palatino Linotype" panose="02040502050505030304" pitchFamily="18" charset="0"/>
              </a:rPr>
              <a:t> I mean that whose essence involves existence, that is, that whose nature is only conceivable as existent”</a:t>
            </a:r>
          </a:p>
          <a:p>
            <a:pPr lvl="1" eaLnBrk="1" hangingPunct="1">
              <a:lnSpc>
                <a:spcPct val="90000"/>
              </a:lnSpc>
            </a:pPr>
            <a:r>
              <a:rPr lang="en-US" altLang="en-US" sz="2000" dirty="0">
                <a:solidFill>
                  <a:schemeClr val="bg1"/>
                </a:solidFill>
                <a:latin typeface="Palatino Linotype" panose="02040502050505030304" pitchFamily="18" charset="0"/>
              </a:rPr>
              <a:t>no external cause, only an internal cause (in its own essence)</a:t>
            </a:r>
          </a:p>
          <a:p>
            <a:pPr eaLnBrk="1" hangingPunct="1">
              <a:lnSpc>
                <a:spcPct val="90000"/>
              </a:lnSpc>
            </a:pPr>
            <a:r>
              <a:rPr lang="en-US" altLang="en-US" sz="2200" dirty="0">
                <a:solidFill>
                  <a:schemeClr val="bg1"/>
                </a:solidFill>
                <a:latin typeface="Palatino Linotype" panose="02040502050505030304" pitchFamily="18" charset="0"/>
              </a:rPr>
              <a:t>Just like Descartes’s God: it belongs to its very essence that it must exist (Fifth Meditation):</a:t>
            </a:r>
          </a:p>
          <a:p>
            <a:pPr lvl="1" eaLnBrk="1" hangingPunct="1">
              <a:lnSpc>
                <a:spcPct val="90000"/>
              </a:lnSpc>
            </a:pPr>
            <a:r>
              <a:rPr lang="en-US" altLang="en-US" sz="2000" dirty="0">
                <a:solidFill>
                  <a:schemeClr val="bg1"/>
                </a:solidFill>
                <a:latin typeface="Palatino Linotype" panose="02040502050505030304" pitchFamily="18" charset="0"/>
              </a:rPr>
              <a:t>“one cannot separate existence from the essence of God, any more than one can separate the fact that the sum of the three angles in a triangle is equal to two right angles from the essence of a triangle, or separate the idea of a valley from the idea of a mountain”</a:t>
            </a:r>
          </a:p>
        </p:txBody>
      </p:sp>
    </p:spTree>
    <p:extLst>
      <p:ext uri="{BB962C8B-B14F-4D97-AF65-F5344CB8AC3E}">
        <p14:creationId xmlns:p14="http://schemas.microsoft.com/office/powerpoint/2010/main" val="14163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2C13939-46D5-4E6B-80D8-B144DC827D5C}"/>
              </a:ext>
            </a:extLst>
          </p:cNvPr>
          <p:cNvPicPr>
            <a:picLocks noChangeAspect="1"/>
          </p:cNvPicPr>
          <p:nvPr/>
        </p:nvPicPr>
        <p:blipFill>
          <a:blip r:embed="rId2"/>
          <a:stretch>
            <a:fillRect/>
          </a:stretch>
        </p:blipFill>
        <p:spPr>
          <a:xfrm>
            <a:off x="0" y="1443037"/>
            <a:ext cx="9144000" cy="3971925"/>
          </a:xfrm>
          <a:prstGeom prst="rect">
            <a:avLst/>
          </a:prstGeom>
        </p:spPr>
      </p:pic>
      <p:pic>
        <p:nvPicPr>
          <p:cNvPr id="38" name="Picture 37">
            <a:extLst>
              <a:ext uri="{FF2B5EF4-FFF2-40B4-BE49-F238E27FC236}">
                <a16:creationId xmlns:a16="http://schemas.microsoft.com/office/drawing/2014/main" id="{CD4E2C83-E5B0-4F5F-B67C-E30A4F0BC02D}"/>
              </a:ext>
            </a:extLst>
          </p:cNvPr>
          <p:cNvPicPr>
            <a:picLocks noChangeAspect="1"/>
          </p:cNvPicPr>
          <p:nvPr/>
        </p:nvPicPr>
        <p:blipFill>
          <a:blip r:embed="rId3"/>
          <a:stretch>
            <a:fillRect/>
          </a:stretch>
        </p:blipFill>
        <p:spPr>
          <a:xfrm>
            <a:off x="0" y="1362075"/>
            <a:ext cx="9144000" cy="4133850"/>
          </a:xfrm>
          <a:prstGeom prst="rect">
            <a:avLst/>
          </a:prstGeom>
        </p:spPr>
      </p:pic>
      <p:pic>
        <p:nvPicPr>
          <p:cNvPr id="40" name="Picture 39">
            <a:extLst>
              <a:ext uri="{FF2B5EF4-FFF2-40B4-BE49-F238E27FC236}">
                <a16:creationId xmlns:a16="http://schemas.microsoft.com/office/drawing/2014/main" id="{D2155EAA-5F6C-4463-AE7C-596E15B61300}"/>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3152868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14313"/>
            <a:ext cx="8229600" cy="868362"/>
          </a:xfrm>
        </p:spPr>
        <p:txBody>
          <a:bodyPr/>
          <a:lstStyle/>
          <a:p>
            <a:pPr eaLnBrk="1" hangingPunct="1"/>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1p8: substance must be infinite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1890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“Every substance is necessarily infinite.”</a:t>
            </a:r>
          </a:p>
          <a:p>
            <a:pPr eaLnBrk="1" hangingPunct="1">
              <a:lnSpc>
                <a:spcPct val="90000"/>
              </a:lnSpc>
            </a:pPr>
            <a:r>
              <a:rPr lang="en-US" altLang="en-US" sz="2200" dirty="0">
                <a:solidFill>
                  <a:schemeClr val="bg1"/>
                </a:solidFill>
                <a:latin typeface="Palatino Linotype" panose="02040502050505030304" pitchFamily="18" charset="0"/>
              </a:rPr>
              <a:t>Substance must be infinite:</a:t>
            </a:r>
          </a:p>
          <a:p>
            <a:pPr lvl="1" eaLnBrk="1" hangingPunct="1">
              <a:lnSpc>
                <a:spcPct val="90000"/>
              </a:lnSpc>
            </a:pPr>
            <a:r>
              <a:rPr lang="en-US" altLang="en-US" sz="2000" dirty="0">
                <a:solidFill>
                  <a:schemeClr val="bg1"/>
                </a:solidFill>
                <a:latin typeface="Palatino Linotype" panose="02040502050505030304" pitchFamily="18" charset="0"/>
              </a:rPr>
              <a:t>maybe not </a:t>
            </a:r>
            <a:r>
              <a:rPr lang="en-US" altLang="en-US" sz="2000" i="1" dirty="0">
                <a:solidFill>
                  <a:schemeClr val="bg1"/>
                </a:solidFill>
                <a:latin typeface="Palatino Linotype" panose="02040502050505030304" pitchFamily="18" charset="0"/>
              </a:rPr>
              <a:t>absolutely infinite</a:t>
            </a:r>
            <a:r>
              <a:rPr lang="en-US" altLang="en-US" sz="2000" dirty="0">
                <a:solidFill>
                  <a:schemeClr val="bg1"/>
                </a:solidFill>
                <a:latin typeface="Palatino Linotype" panose="02040502050505030304" pitchFamily="18" charset="0"/>
              </a:rPr>
              <a:t>, but at least </a:t>
            </a:r>
            <a:r>
              <a:rPr lang="en-US" altLang="en-US" sz="2000" i="1" dirty="0">
                <a:solidFill>
                  <a:schemeClr val="bg1"/>
                </a:solidFill>
                <a:latin typeface="Palatino Linotype" panose="02040502050505030304" pitchFamily="18" charset="0"/>
              </a:rPr>
              <a:t>infinite after its own kind</a:t>
            </a:r>
          </a:p>
          <a:p>
            <a:pPr lvl="1" eaLnBrk="1" hangingPunct="1">
              <a:lnSpc>
                <a:spcPct val="90000"/>
              </a:lnSpc>
            </a:pPr>
            <a:r>
              <a:rPr lang="en-US" altLang="en-US" sz="2000" dirty="0">
                <a:solidFill>
                  <a:schemeClr val="bg1"/>
                </a:solidFill>
                <a:latin typeface="Palatino Linotype" panose="02040502050505030304" pitchFamily="18" charset="0"/>
              </a:rPr>
              <a:t>e.g., extended substance must be infinite extended substance</a:t>
            </a:r>
          </a:p>
          <a:p>
            <a:pPr eaLnBrk="1" hangingPunct="1">
              <a:lnSpc>
                <a:spcPct val="90000"/>
              </a:lnSpc>
            </a:pPr>
            <a:r>
              <a:rPr lang="en-US" altLang="en-US" sz="2200" i="1" dirty="0">
                <a:solidFill>
                  <a:schemeClr val="bg1"/>
                </a:solidFill>
                <a:latin typeface="Palatino Linotype" panose="02040502050505030304" pitchFamily="18" charset="0"/>
              </a:rPr>
              <a:t>Finite</a:t>
            </a:r>
            <a:r>
              <a:rPr lang="en-US" altLang="en-US" sz="2200" dirty="0">
                <a:solidFill>
                  <a:schemeClr val="bg1"/>
                </a:solidFill>
                <a:latin typeface="Palatino Linotype" panose="02040502050505030304" pitchFamily="18" charset="0"/>
              </a:rPr>
              <a:t> substance would involve a fellow limiting substance:</a:t>
            </a:r>
          </a:p>
          <a:p>
            <a:pPr lvl="1" eaLnBrk="1" hangingPunct="1">
              <a:lnSpc>
                <a:spcPct val="90000"/>
              </a:lnSpc>
            </a:pPr>
            <a:r>
              <a:rPr lang="en-US" altLang="en-US" sz="2000" dirty="0">
                <a:solidFill>
                  <a:schemeClr val="bg1"/>
                </a:solidFill>
                <a:latin typeface="Palatino Linotype" panose="02040502050505030304" pitchFamily="18" charset="0"/>
              </a:rPr>
              <a:t>finite because limited by a second substance of the same kind</a:t>
            </a:r>
          </a:p>
          <a:p>
            <a:pPr lvl="1" eaLnBrk="1" hangingPunct="1">
              <a:lnSpc>
                <a:spcPct val="90000"/>
              </a:lnSpc>
            </a:pPr>
            <a:r>
              <a:rPr lang="en-US" altLang="en-US" sz="2000" dirty="0">
                <a:solidFill>
                  <a:schemeClr val="bg1"/>
                </a:solidFill>
                <a:latin typeface="Palatino Linotype" panose="02040502050505030304" pitchFamily="18" charset="0"/>
              </a:rPr>
              <a:t>e.g., a finite body would have to be limited by some other body</a:t>
            </a:r>
          </a:p>
          <a:p>
            <a:pPr lvl="1" eaLnBrk="1" hangingPunct="1">
              <a:lnSpc>
                <a:spcPct val="90000"/>
              </a:lnSpc>
            </a:pPr>
            <a:r>
              <a:rPr lang="en-US" altLang="en-US" sz="2000" dirty="0">
                <a:solidFill>
                  <a:schemeClr val="bg1"/>
                </a:solidFill>
                <a:latin typeface="Palatino Linotype" panose="02040502050505030304" pitchFamily="18" charset="0"/>
              </a:rPr>
              <a:t>but you can’t have two </a:t>
            </a:r>
            <a:r>
              <a:rPr lang="en-US" altLang="en-US" sz="2200" dirty="0">
                <a:solidFill>
                  <a:schemeClr val="bg1"/>
                </a:solidFill>
                <a:latin typeface="Palatino Linotype" panose="02040502050505030304" pitchFamily="18" charset="0"/>
              </a:rPr>
              <a:t>substances of the same kind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1p5)</a:t>
            </a:r>
          </a:p>
          <a:p>
            <a:pPr lvl="1" eaLnBrk="1" hangingPunct="1">
              <a:lnSpc>
                <a:spcPct val="90000"/>
              </a:lnSpc>
            </a:pPr>
            <a:r>
              <a:rPr lang="en-US" altLang="en-US" sz="2000" dirty="0">
                <a:solidFill>
                  <a:schemeClr val="bg1"/>
                </a:solidFill>
                <a:latin typeface="Palatino Linotype" panose="02040502050505030304" pitchFamily="18" charset="0"/>
              </a:rPr>
              <a:t>e.g., an extended substance is the one and only extended substance—</a:t>
            </a:r>
            <a:r>
              <a:rPr lang="en-US" altLang="en-US" sz="2000" i="1" dirty="0">
                <a:solidFill>
                  <a:schemeClr val="bg1"/>
                </a:solidFill>
                <a:latin typeface="Palatino Linotype" panose="02040502050505030304" pitchFamily="18" charset="0"/>
              </a:rPr>
              <a:t>infinite after its own kind</a:t>
            </a:r>
          </a:p>
          <a:p>
            <a:pPr eaLnBrk="1" hangingPunct="1">
              <a:lnSpc>
                <a:spcPct val="90000"/>
              </a:lnSpc>
            </a:pPr>
            <a:r>
              <a:rPr lang="en-US" altLang="en-US" sz="2200" dirty="0">
                <a:solidFill>
                  <a:schemeClr val="bg1"/>
                </a:solidFill>
                <a:latin typeface="Palatino Linotype" panose="02040502050505030304" pitchFamily="18" charset="0"/>
              </a:rPr>
              <a:t>Any </a:t>
            </a:r>
            <a:r>
              <a:rPr lang="en-US" altLang="en-US" sz="2200" i="1" dirty="0">
                <a:solidFill>
                  <a:schemeClr val="bg1"/>
                </a:solidFill>
                <a:latin typeface="Palatino Linotype" panose="02040502050505030304" pitchFamily="18" charset="0"/>
              </a:rPr>
              <a:t>causa sui</a:t>
            </a:r>
            <a:r>
              <a:rPr lang="en-US" altLang="en-US" sz="2200" dirty="0">
                <a:solidFill>
                  <a:schemeClr val="bg1"/>
                </a:solidFill>
                <a:latin typeface="Palatino Linotype" panose="02040502050505030304" pitchFamily="18" charset="0"/>
              </a:rPr>
              <a:t> must be infinite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1p8s1):</a:t>
            </a:r>
          </a:p>
          <a:p>
            <a:pPr lvl="1" eaLnBrk="1" hangingPunct="1">
              <a:lnSpc>
                <a:spcPct val="90000"/>
              </a:lnSpc>
            </a:pPr>
            <a:r>
              <a:rPr lang="en-US" altLang="en-US" sz="2000" dirty="0">
                <a:solidFill>
                  <a:schemeClr val="bg1"/>
                </a:solidFill>
                <a:latin typeface="Palatino Linotype" panose="02040502050505030304" pitchFamily="18" charset="0"/>
              </a:rPr>
              <a:t>its existence stems from its nature, not from anything external</a:t>
            </a:r>
          </a:p>
          <a:p>
            <a:pPr lvl="1" eaLnBrk="1" hangingPunct="1">
              <a:lnSpc>
                <a:spcPct val="90000"/>
              </a:lnSpc>
            </a:pPr>
            <a:r>
              <a:rPr lang="en-US" altLang="en-US" sz="2000" dirty="0">
                <a:solidFill>
                  <a:schemeClr val="bg1"/>
                </a:solidFill>
                <a:latin typeface="Palatino Linotype" panose="02040502050505030304" pitchFamily="18" charset="0"/>
              </a:rPr>
              <a:t>the existence of its nature is not at all denied, hence it’s infinite</a:t>
            </a:r>
          </a:p>
        </p:txBody>
      </p:sp>
    </p:spTree>
    <p:extLst>
      <p:ext uri="{BB962C8B-B14F-4D97-AF65-F5344CB8AC3E}">
        <p14:creationId xmlns:p14="http://schemas.microsoft.com/office/powerpoint/2010/main" val="59222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0D0F2DF-E942-4DB4-BFD5-FB4167EF6724}"/>
              </a:ext>
            </a:extLst>
          </p:cNvPr>
          <p:cNvPicPr>
            <a:picLocks noChangeAspect="1"/>
          </p:cNvPicPr>
          <p:nvPr/>
        </p:nvPicPr>
        <p:blipFill>
          <a:blip r:embed="rId2"/>
          <a:stretch>
            <a:fillRect/>
          </a:stretch>
        </p:blipFill>
        <p:spPr>
          <a:xfrm>
            <a:off x="0" y="1362075"/>
            <a:ext cx="9144000" cy="4133850"/>
          </a:xfrm>
          <a:prstGeom prst="rect">
            <a:avLst/>
          </a:prstGeom>
        </p:spPr>
      </p:pic>
    </p:spTree>
    <p:extLst>
      <p:ext uri="{BB962C8B-B14F-4D97-AF65-F5344CB8AC3E}">
        <p14:creationId xmlns:p14="http://schemas.microsoft.com/office/powerpoint/2010/main" val="1627872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98438"/>
            <a:ext cx="8229600" cy="715962"/>
          </a:xfrm>
        </p:spPr>
        <p:txBody>
          <a:bodyPr/>
          <a:lstStyle/>
          <a:p>
            <a:pPr eaLnBrk="1" hangingPunct="1"/>
            <a:r>
              <a:rPr lang="en-US" altLang="en-US" sz="3500" dirty="0">
                <a:solidFill>
                  <a:schemeClr val="bg1"/>
                </a:solidFill>
                <a:latin typeface="Palatino Linotype" panose="02040502050505030304" pitchFamily="18" charset="0"/>
              </a:rPr>
              <a:t>1p9: More reality means more attributes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90601"/>
            <a:ext cx="8229600" cy="1371599"/>
          </a:xfrm>
        </p:spPr>
        <p:txBody>
          <a:bodyPr/>
          <a:lstStyle/>
          <a:p>
            <a:pPr eaLnBrk="1" hangingPunct="1">
              <a:lnSpc>
                <a:spcPct val="90000"/>
              </a:lnSpc>
            </a:pPr>
            <a:r>
              <a:rPr lang="en-US" altLang="en-US" sz="2700" dirty="0">
                <a:solidFill>
                  <a:schemeClr val="bg1"/>
                </a:solidFill>
                <a:latin typeface="Palatino Linotype" panose="02040502050505030304" pitchFamily="18" charset="0"/>
              </a:rPr>
              <a:t>Attributes constitute the essence of a substance.</a:t>
            </a:r>
          </a:p>
          <a:p>
            <a:pPr eaLnBrk="1" hangingPunct="1">
              <a:lnSpc>
                <a:spcPct val="90000"/>
              </a:lnSpc>
            </a:pPr>
            <a:r>
              <a:rPr lang="en-US" altLang="en-US" sz="2700" dirty="0">
                <a:solidFill>
                  <a:schemeClr val="bg1"/>
                </a:solidFill>
                <a:latin typeface="Palatino Linotype" panose="02040502050505030304" pitchFamily="18" charset="0"/>
              </a:rPr>
              <a:t>So the more reality/being/perfection there is to the essence of something, the more attributes it has.</a:t>
            </a:r>
          </a:p>
        </p:txBody>
      </p:sp>
      <p:sp>
        <p:nvSpPr>
          <p:cNvPr id="4" name="Rectangle 2">
            <a:extLst>
              <a:ext uri="{FF2B5EF4-FFF2-40B4-BE49-F238E27FC236}">
                <a16:creationId xmlns:a16="http://schemas.microsoft.com/office/drawing/2014/main" id="{5601D814-C128-4EFC-B1A8-3FA515B0B515}"/>
              </a:ext>
            </a:extLst>
          </p:cNvPr>
          <p:cNvSpPr txBox="1">
            <a:spLocks noChangeArrowheads="1"/>
          </p:cNvSpPr>
          <p:nvPr/>
        </p:nvSpPr>
        <p:spPr bwMode="auto">
          <a:xfrm>
            <a:off x="457200" y="2560638"/>
            <a:ext cx="8229600"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lnSpc>
                <a:spcPct val="90000"/>
              </a:lnSpc>
            </a:pPr>
            <a:r>
              <a:rPr lang="en-US" altLang="en-US" sz="3200" spc="-100" dirty="0">
                <a:solidFill>
                  <a:schemeClr val="bg1"/>
                </a:solidFill>
                <a:latin typeface="Palatino Linotype" panose="02040502050505030304" pitchFamily="18" charset="0"/>
              </a:rPr>
              <a:t>1p10: Each attribute is conceived through itself</a:t>
            </a:r>
            <a:endParaRPr lang="en-US" altLang="en-US" sz="3200" i="1" spc="-100" dirty="0">
              <a:solidFill>
                <a:schemeClr val="bg1"/>
              </a:solidFill>
              <a:latin typeface="Palatino Linotype" panose="02040502050505030304" pitchFamily="18" charset="0"/>
            </a:endParaRPr>
          </a:p>
        </p:txBody>
      </p:sp>
      <p:sp>
        <p:nvSpPr>
          <p:cNvPr id="5" name="Rectangle 3">
            <a:extLst>
              <a:ext uri="{FF2B5EF4-FFF2-40B4-BE49-F238E27FC236}">
                <a16:creationId xmlns:a16="http://schemas.microsoft.com/office/drawing/2014/main" id="{320DB9DF-A93F-416F-8B47-41094576DDDA}"/>
              </a:ext>
            </a:extLst>
          </p:cNvPr>
          <p:cNvSpPr txBox="1">
            <a:spLocks noChangeArrowheads="1"/>
          </p:cNvSpPr>
          <p:nvPr/>
        </p:nvSpPr>
        <p:spPr bwMode="auto">
          <a:xfrm>
            <a:off x="457200" y="3581400"/>
            <a:ext cx="8229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pPr>
            <a:r>
              <a:rPr lang="en-US" altLang="en-US" sz="2700" dirty="0">
                <a:solidFill>
                  <a:schemeClr val="bg1"/>
                </a:solidFill>
                <a:latin typeface="Palatino Linotype" panose="02040502050505030304" pitchFamily="18" charset="0"/>
              </a:rPr>
              <a:t>Just like substances! Conceptual isolation.</a:t>
            </a:r>
          </a:p>
          <a:p>
            <a:pPr eaLnBrk="1" hangingPunct="1">
              <a:lnSpc>
                <a:spcPct val="90000"/>
              </a:lnSpc>
            </a:pPr>
            <a:r>
              <a:rPr lang="en-US" altLang="en-US" sz="2700" dirty="0">
                <a:solidFill>
                  <a:schemeClr val="bg1"/>
                </a:solidFill>
                <a:latin typeface="Palatino Linotype" panose="02040502050505030304" pitchFamily="18" charset="0"/>
              </a:rPr>
              <a:t>So we can’t use one attribute to rule out another attribute—that crosses the conceptual barrier.</a:t>
            </a:r>
          </a:p>
          <a:p>
            <a:pPr eaLnBrk="1" hangingPunct="1">
              <a:lnSpc>
                <a:spcPct val="90000"/>
              </a:lnSpc>
            </a:pPr>
            <a:r>
              <a:rPr lang="en-US" altLang="en-US" sz="2700" dirty="0">
                <a:solidFill>
                  <a:schemeClr val="bg1"/>
                </a:solidFill>
                <a:latin typeface="Palatino Linotype" panose="02040502050505030304" pitchFamily="18" charset="0"/>
              </a:rPr>
              <a:t>“</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has the attribute </a:t>
            </a:r>
            <a:r>
              <a:rPr lang="en-US" altLang="en-US" sz="2200" spc="100" dirty="0">
                <a:solidFill>
                  <a:schemeClr val="bg1"/>
                </a:solidFill>
                <a:latin typeface="Palatino Linotype" panose="02040502050505030304" pitchFamily="18" charset="0"/>
              </a:rPr>
              <a:t>THOUGHT</a:t>
            </a:r>
            <a:r>
              <a:rPr lang="en-US" altLang="en-US" sz="2700" dirty="0">
                <a:solidFill>
                  <a:schemeClr val="bg1"/>
                </a:solidFill>
                <a:latin typeface="Palatino Linotype" panose="02040502050505030304" pitchFamily="18" charset="0"/>
              </a:rPr>
              <a:t>, so </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cannot have </a:t>
            </a:r>
            <a:r>
              <a:rPr lang="en-US" altLang="en-US" sz="2700" spc="-60" dirty="0">
                <a:solidFill>
                  <a:schemeClr val="bg1"/>
                </a:solidFill>
                <a:latin typeface="Palatino Linotype" panose="02040502050505030304" pitchFamily="18" charset="0"/>
              </a:rPr>
              <a:t>the attribute </a:t>
            </a:r>
            <a:r>
              <a:rPr lang="en-US" altLang="en-US" sz="2200" spc="100" dirty="0">
                <a:solidFill>
                  <a:schemeClr val="bg1"/>
                </a:solidFill>
                <a:latin typeface="Palatino Linotype" panose="02040502050505030304" pitchFamily="18" charset="0"/>
              </a:rPr>
              <a:t>EXTENSION</a:t>
            </a:r>
            <a:r>
              <a:rPr lang="en-US" altLang="en-US" sz="2700" dirty="0">
                <a:solidFill>
                  <a:schemeClr val="bg1"/>
                </a:solidFill>
                <a:latin typeface="Palatino Linotype" panose="02040502050505030304" pitchFamily="18" charset="0"/>
              </a:rPr>
              <a:t>”? </a:t>
            </a:r>
            <a:r>
              <a:rPr lang="en-US" altLang="en-US" sz="2700" spc="-60" dirty="0">
                <a:solidFill>
                  <a:schemeClr val="bg1"/>
                </a:solidFill>
                <a:latin typeface="Palatino Linotype" panose="02040502050505030304" pitchFamily="18" charset="0"/>
              </a:rPr>
              <a:t>This inference is no good.</a:t>
            </a:r>
          </a:p>
          <a:p>
            <a:pPr eaLnBrk="1" hangingPunct="1">
              <a:lnSpc>
                <a:spcPct val="90000"/>
              </a:lnSpc>
            </a:pPr>
            <a:r>
              <a:rPr lang="en-US" altLang="en-US" sz="2700" spc="-60" dirty="0">
                <a:solidFill>
                  <a:schemeClr val="bg1"/>
                </a:solidFill>
                <a:latin typeface="Palatino Linotype" panose="02040502050505030304" pitchFamily="18" charset="0"/>
              </a:rPr>
              <a:t>A substance can have many different attributes.</a:t>
            </a:r>
          </a:p>
        </p:txBody>
      </p:sp>
    </p:spTree>
    <p:extLst>
      <p:ext uri="{BB962C8B-B14F-4D97-AF65-F5344CB8AC3E}">
        <p14:creationId xmlns:p14="http://schemas.microsoft.com/office/powerpoint/2010/main" val="51207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1" grpId="0" uiExpand="1" build="p"/>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1p11: An </a:t>
            </a:r>
            <a:r>
              <a:rPr lang="en-US" altLang="en-US" sz="3500" i="1" dirty="0">
                <a:solidFill>
                  <a:schemeClr val="bg1"/>
                </a:solidFill>
                <a:latin typeface="Palatino Linotype" panose="02040502050505030304" pitchFamily="18" charset="0"/>
              </a:rPr>
              <a:t>absolutely infinite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substance (God) exists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Not just infinite in its kind, but absolutely infinite</a:t>
            </a:r>
            <a:r>
              <a:rPr lang="en-US" altLang="en-US" sz="28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This substance possesses infinitely many attributes, each attribute expressing eternal and infinite essence.</a:t>
            </a:r>
          </a:p>
          <a:p>
            <a:pPr eaLnBrk="1" hangingPunct="1">
              <a:lnSpc>
                <a:spcPct val="88000"/>
              </a:lnSpc>
            </a:pPr>
            <a:r>
              <a:rPr lang="en-US" altLang="en-US" sz="2800" dirty="0">
                <a:solidFill>
                  <a:schemeClr val="bg1"/>
                </a:solidFill>
                <a:latin typeface="Palatino Linotype" panose="02040502050505030304" pitchFamily="18" charset="0"/>
              </a:rPr>
              <a:t>Ontological argument: such a substance must exist, because its essence involves existence.</a:t>
            </a:r>
          </a:p>
          <a:p>
            <a:pPr eaLnBrk="1" hangingPunct="1">
              <a:lnSpc>
                <a:spcPct val="88000"/>
              </a:lnSpc>
            </a:pPr>
            <a:r>
              <a:rPr lang="en-US" altLang="en-US" sz="2800" dirty="0">
                <a:solidFill>
                  <a:schemeClr val="bg1"/>
                </a:solidFill>
                <a:latin typeface="Palatino Linotype" panose="02040502050505030304" pitchFamily="18" charset="0"/>
              </a:rPr>
              <a:t>Argument #2: God’s nonexistence couldn’t be due to something external (no substances are causally related) or internal (God’s nature has no contradiction).</a:t>
            </a:r>
          </a:p>
          <a:p>
            <a:pPr eaLnBrk="1" hangingPunct="1">
              <a:lnSpc>
                <a:spcPct val="88000"/>
              </a:lnSpc>
            </a:pPr>
            <a:r>
              <a:rPr lang="en-US" altLang="en-US" sz="2800" dirty="0">
                <a:solidFill>
                  <a:schemeClr val="bg1"/>
                </a:solidFill>
                <a:latin typeface="Palatino Linotype" panose="02040502050505030304" pitchFamily="18" charset="0"/>
              </a:rPr>
              <a:t>Argument #3: If only finite beings exist, then they are more powerful than an infinite being, which is absurd.</a:t>
            </a:r>
          </a:p>
        </p:txBody>
      </p:sp>
    </p:spTree>
    <p:extLst>
      <p:ext uri="{BB962C8B-B14F-4D97-AF65-F5344CB8AC3E}">
        <p14:creationId xmlns:p14="http://schemas.microsoft.com/office/powerpoint/2010/main" val="172745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74638"/>
            <a:ext cx="8229600" cy="868362"/>
          </a:xfrm>
        </p:spPr>
        <p:txBody>
          <a:bodyPr/>
          <a:lstStyle/>
          <a:p>
            <a:pPr eaLnBrk="1" hangingPunct="1"/>
            <a:r>
              <a:rPr lang="en-US" altLang="en-US" sz="3500" dirty="0">
                <a:solidFill>
                  <a:schemeClr val="bg1"/>
                </a:solidFill>
                <a:latin typeface="Palatino Linotype" panose="02040502050505030304" pitchFamily="18" charset="0"/>
              </a:rPr>
              <a:t>1p12: A substance is indivisible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325561"/>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If its parts retain the nature of substance, then: </a:t>
            </a:r>
          </a:p>
          <a:p>
            <a:pPr lvl="1" eaLnBrk="1" hangingPunct="1">
              <a:lnSpc>
                <a:spcPct val="88000"/>
              </a:lnSpc>
            </a:pPr>
            <a:r>
              <a:rPr lang="en-US" altLang="en-US" sz="2400" spc="-40" dirty="0">
                <a:solidFill>
                  <a:schemeClr val="bg1"/>
                </a:solidFill>
                <a:latin typeface="Palatino Linotype" panose="02040502050505030304" pitchFamily="18" charset="0"/>
              </a:rPr>
              <a:t>from a single substance many substances can be formed, which would cross the causal barrier (1p6).</a:t>
            </a:r>
            <a:endParaRPr lang="en-US" altLang="en-US" sz="2400" dirty="0">
              <a:solidFill>
                <a:schemeClr val="bg1"/>
              </a:solidFill>
              <a:latin typeface="Palatino Linotype" panose="02040502050505030304" pitchFamily="18" charset="0"/>
            </a:endParaRPr>
          </a:p>
          <a:p>
            <a:pPr lvl="1" eaLnBrk="1" hangingPunct="1">
              <a:lnSpc>
                <a:spcPct val="88000"/>
              </a:lnSpc>
            </a:pPr>
            <a:r>
              <a:rPr lang="en-US" altLang="en-US" sz="2400" dirty="0">
                <a:solidFill>
                  <a:schemeClr val="bg1"/>
                </a:solidFill>
                <a:latin typeface="Palatino Linotype" panose="02040502050505030304" pitchFamily="18" charset="0"/>
              </a:rPr>
              <a:t>each new substance would have a different attribute and would have nothing in common with its cause, which would screw up the part-whole relationship.</a:t>
            </a:r>
          </a:p>
          <a:p>
            <a:pPr eaLnBrk="1" hangingPunct="1">
              <a:lnSpc>
                <a:spcPct val="88000"/>
              </a:lnSpc>
            </a:pPr>
            <a:r>
              <a:rPr lang="en-US" altLang="en-US" sz="2800" dirty="0">
                <a:solidFill>
                  <a:schemeClr val="bg1"/>
                </a:solidFill>
                <a:latin typeface="Palatino Linotype" panose="02040502050505030304" pitchFamily="18" charset="0"/>
              </a:rPr>
              <a:t>If its parts lose the nature of substance, then the substance would be destroyed, which is impossible.</a:t>
            </a:r>
          </a:p>
          <a:p>
            <a:pPr eaLnBrk="1" hangingPunct="1">
              <a:lnSpc>
                <a:spcPct val="88000"/>
              </a:lnSpc>
            </a:pPr>
            <a:r>
              <a:rPr lang="en-US" altLang="en-US" sz="2800" dirty="0">
                <a:solidFill>
                  <a:schemeClr val="bg1"/>
                </a:solidFill>
                <a:latin typeface="Palatino Linotype" panose="02040502050505030304" pitchFamily="18" charset="0"/>
              </a:rPr>
              <a:t>So it’s impossible to divide a substance into parts.</a:t>
            </a:r>
          </a:p>
          <a:p>
            <a:pPr lvl="1" eaLnBrk="1" hangingPunct="1">
              <a:lnSpc>
                <a:spcPct val="88000"/>
              </a:lnSpc>
            </a:pPr>
            <a:r>
              <a:rPr lang="en-US" altLang="en-US" sz="2400" dirty="0">
                <a:solidFill>
                  <a:schemeClr val="bg1"/>
                </a:solidFill>
                <a:latin typeface="Palatino Linotype" panose="02040502050505030304" pitchFamily="18" charset="0"/>
              </a:rPr>
              <a:t>Even a substance conceived under the attribute </a:t>
            </a:r>
            <a:r>
              <a:rPr lang="en-US" altLang="en-US" sz="2200" spc="100" dirty="0">
                <a:solidFill>
                  <a:schemeClr val="bg1"/>
                </a:solidFill>
                <a:latin typeface="Palatino Linotype" panose="02040502050505030304" pitchFamily="18" charset="0"/>
              </a:rPr>
              <a:t>EXTENSION</a:t>
            </a:r>
            <a:r>
              <a:rPr lang="en-US" altLang="en-US" sz="2200" dirty="0">
                <a:solidFill>
                  <a:schemeClr val="bg1"/>
                </a:solidFill>
                <a:latin typeface="Palatino Linotype" panose="02040502050505030304" pitchFamily="18" charset="0"/>
              </a:rPr>
              <a:t> is indivisible</a:t>
            </a:r>
            <a:r>
              <a:rPr lang="en-US" altLang="en-US" sz="24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367862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1p13: An </a:t>
            </a:r>
            <a:r>
              <a:rPr lang="en-US" altLang="en-US" sz="3500" i="1" dirty="0">
                <a:solidFill>
                  <a:schemeClr val="bg1"/>
                </a:solidFill>
                <a:latin typeface="Palatino Linotype" panose="02040502050505030304" pitchFamily="18" charset="0"/>
              </a:rPr>
              <a:t>absolutely infinite</a:t>
            </a:r>
            <a:r>
              <a:rPr lang="en-US" altLang="en-US" sz="3500" dirty="0">
                <a:solidFill>
                  <a:schemeClr val="bg1"/>
                </a:solidFill>
                <a:latin typeface="Palatino Linotype" panose="02040502050505030304" pitchFamily="18" charset="0"/>
              </a:rPr>
              <a:t>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is indivisible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If its parts retain the nature of God, then there would be many Gods (many substances of the same absolutely infinite nature), which is impossible. </a:t>
            </a:r>
            <a:endParaRPr lang="en-US" altLang="en-US" sz="2400" dirty="0">
              <a:solidFill>
                <a:schemeClr val="bg1"/>
              </a:solidFill>
              <a:latin typeface="Palatino Linotype" panose="02040502050505030304" pitchFamily="18" charset="0"/>
            </a:endParaRPr>
          </a:p>
          <a:p>
            <a:pPr eaLnBrk="1" hangingPunct="1">
              <a:lnSpc>
                <a:spcPct val="88000"/>
              </a:lnSpc>
            </a:pPr>
            <a:r>
              <a:rPr lang="en-US" altLang="en-US" sz="2800" dirty="0">
                <a:solidFill>
                  <a:schemeClr val="bg1"/>
                </a:solidFill>
                <a:latin typeface="Palatino Linotype" panose="02040502050505030304" pitchFamily="18" charset="0"/>
              </a:rPr>
              <a:t>If its parts lose the nature of God, then God would be destroyed, which is impossible.</a:t>
            </a:r>
          </a:p>
          <a:p>
            <a:pPr eaLnBrk="1" hangingPunct="1">
              <a:lnSpc>
                <a:spcPct val="88000"/>
              </a:lnSpc>
            </a:pPr>
            <a:r>
              <a:rPr lang="en-US" altLang="en-US" sz="2800" dirty="0">
                <a:solidFill>
                  <a:schemeClr val="bg1"/>
                </a:solidFill>
                <a:latin typeface="Palatino Linotype" panose="02040502050505030304" pitchFamily="18" charset="0"/>
              </a:rPr>
              <a:t>So it’s impossible to divide God into parts.</a:t>
            </a:r>
          </a:p>
        </p:txBody>
      </p:sp>
    </p:spTree>
    <p:extLst>
      <p:ext uri="{BB962C8B-B14F-4D97-AF65-F5344CB8AC3E}">
        <p14:creationId xmlns:p14="http://schemas.microsoft.com/office/powerpoint/2010/main" val="187629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1p14: God is the only possible/conceivable substance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God has every attribute, so if there were a second substance, it would have to have one of the same attributes already had by God.</a:t>
            </a:r>
          </a:p>
          <a:p>
            <a:pPr eaLnBrk="1" hangingPunct="1">
              <a:lnSpc>
                <a:spcPct val="88000"/>
              </a:lnSpc>
            </a:pPr>
            <a:r>
              <a:rPr lang="en-US" altLang="en-US" sz="2800" dirty="0">
                <a:solidFill>
                  <a:schemeClr val="bg1"/>
                </a:solidFill>
                <a:latin typeface="Palatino Linotype" panose="02040502050505030304" pitchFamily="18" charset="0"/>
              </a:rPr>
              <a:t>But it’s impossible for two substances to have the same attribute (1p5).</a:t>
            </a:r>
          </a:p>
          <a:p>
            <a:pPr eaLnBrk="1" hangingPunct="1">
              <a:lnSpc>
                <a:spcPct val="88000"/>
              </a:lnSpc>
            </a:pPr>
            <a:r>
              <a:rPr lang="en-US" altLang="en-US" sz="2800" dirty="0">
                <a:solidFill>
                  <a:schemeClr val="bg1"/>
                </a:solidFill>
                <a:latin typeface="Palatino Linotype" panose="02040502050505030304" pitchFamily="18" charset="0"/>
              </a:rPr>
              <a:t>So no other substance can be (or be conceived as existing).</a:t>
            </a:r>
          </a:p>
          <a:p>
            <a:pPr lvl="1" eaLnBrk="1" hangingPunct="1">
              <a:lnSpc>
                <a:spcPct val="88000"/>
              </a:lnSpc>
            </a:pPr>
            <a:r>
              <a:rPr lang="en-US" altLang="en-US" sz="2400" dirty="0">
                <a:solidFill>
                  <a:schemeClr val="bg1"/>
                </a:solidFill>
                <a:latin typeface="Palatino Linotype" panose="02040502050505030304" pitchFamily="18" charset="0"/>
              </a:rPr>
              <a:t>God is the one and only substance, absolutely infinite.</a:t>
            </a:r>
          </a:p>
          <a:p>
            <a:pPr lvl="1" eaLnBrk="1" hangingPunct="1">
              <a:lnSpc>
                <a:spcPct val="88000"/>
              </a:lnSpc>
            </a:pPr>
            <a:r>
              <a:rPr lang="en-US" altLang="en-US" sz="2400" dirty="0">
                <a:solidFill>
                  <a:schemeClr val="bg1"/>
                </a:solidFill>
                <a:latin typeface="Palatino Linotype" panose="02040502050505030304" pitchFamily="18" charset="0"/>
              </a:rPr>
              <a:t>Any mind or body is either an attribute or a mode of God’s attribute.</a:t>
            </a:r>
          </a:p>
          <a:p>
            <a:pPr lvl="1" eaLnBrk="1" hangingPunct="1">
              <a:lnSpc>
                <a:spcPct val="88000"/>
              </a:lnSpc>
            </a:pPr>
            <a:endParaRPr lang="en-US" altLang="en-US" sz="1000" dirty="0">
              <a:solidFill>
                <a:schemeClr val="bg1"/>
              </a:solidFill>
              <a:latin typeface="Palatino Linotype" panose="02040502050505030304" pitchFamily="18" charset="0"/>
            </a:endParaRPr>
          </a:p>
          <a:p>
            <a:pPr marL="0" indent="0" algn="ctr" eaLnBrk="1" hangingPunct="1">
              <a:lnSpc>
                <a:spcPct val="88000"/>
              </a:lnSpc>
              <a:buNone/>
            </a:pPr>
            <a:r>
              <a:rPr lang="en-US" altLang="en-US" sz="2800" dirty="0">
                <a:solidFill>
                  <a:schemeClr val="bg1"/>
                </a:solidFill>
                <a:latin typeface="Palatino Linotype" panose="02040502050505030304" pitchFamily="18" charset="0"/>
              </a:rPr>
              <a:t>Substance Monism!</a:t>
            </a:r>
          </a:p>
        </p:txBody>
      </p:sp>
    </p:spTree>
    <p:extLst>
      <p:ext uri="{BB962C8B-B14F-4D97-AF65-F5344CB8AC3E}">
        <p14:creationId xmlns:p14="http://schemas.microsoft.com/office/powerpoint/2010/main" val="198948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1p15: Everything else is a mode of God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Substances and modes are all there is.</a:t>
            </a:r>
          </a:p>
          <a:p>
            <a:pPr eaLnBrk="1" hangingPunct="1">
              <a:lnSpc>
                <a:spcPct val="88000"/>
              </a:lnSpc>
            </a:pPr>
            <a:r>
              <a:rPr lang="en-US" altLang="en-US" sz="2800" dirty="0">
                <a:solidFill>
                  <a:schemeClr val="bg1"/>
                </a:solidFill>
                <a:latin typeface="Palatino Linotype" panose="02040502050505030304" pitchFamily="18" charset="0"/>
              </a:rPr>
              <a:t>But there’s only one substance: God.</a:t>
            </a:r>
          </a:p>
          <a:p>
            <a:pPr eaLnBrk="1" hangingPunct="1">
              <a:lnSpc>
                <a:spcPct val="88000"/>
              </a:lnSpc>
            </a:pPr>
            <a:r>
              <a:rPr lang="en-US" altLang="en-US" sz="2800" dirty="0">
                <a:solidFill>
                  <a:schemeClr val="bg1"/>
                </a:solidFill>
                <a:latin typeface="Palatino Linotype" panose="02040502050505030304" pitchFamily="18" charset="0"/>
              </a:rPr>
              <a:t>So everything else is a mode of God: </a:t>
            </a:r>
            <a:r>
              <a:rPr lang="en-US" altLang="en-US" sz="2800" i="1" dirty="0">
                <a:solidFill>
                  <a:schemeClr val="bg1"/>
                </a:solidFill>
                <a:latin typeface="Palatino Linotype" panose="02040502050505030304" pitchFamily="18" charset="0"/>
              </a:rPr>
              <a:t>in </a:t>
            </a:r>
            <a:r>
              <a:rPr lang="en-US" altLang="en-US" sz="2800" dirty="0">
                <a:solidFill>
                  <a:schemeClr val="bg1"/>
                </a:solidFill>
                <a:latin typeface="Palatino Linotype" panose="02040502050505030304" pitchFamily="18" charset="0"/>
              </a:rPr>
              <a:t>God and </a:t>
            </a:r>
            <a:r>
              <a:rPr lang="en-US" altLang="en-US" sz="2800" i="1" dirty="0">
                <a:solidFill>
                  <a:schemeClr val="bg1"/>
                </a:solidFill>
                <a:latin typeface="Palatino Linotype" panose="02040502050505030304" pitchFamily="18" charset="0"/>
              </a:rPr>
              <a:t>conceived through </a:t>
            </a:r>
            <a:r>
              <a:rPr lang="en-US" altLang="en-US" sz="2800" dirty="0">
                <a:solidFill>
                  <a:schemeClr val="bg1"/>
                </a:solidFill>
                <a:latin typeface="Palatino Linotype" panose="02040502050505030304" pitchFamily="18" charset="0"/>
              </a:rPr>
              <a:t>God.</a:t>
            </a:r>
          </a:p>
          <a:p>
            <a:pPr lvl="1" eaLnBrk="1" hangingPunct="1">
              <a:lnSpc>
                <a:spcPct val="88000"/>
              </a:lnSpc>
            </a:pPr>
            <a:r>
              <a:rPr lang="en-US" altLang="en-US" sz="2400" dirty="0">
                <a:solidFill>
                  <a:schemeClr val="bg1"/>
                </a:solidFill>
                <a:latin typeface="Palatino Linotype" panose="02040502050505030304" pitchFamily="18" charset="0"/>
              </a:rPr>
              <a:t>In particular, so-called ‘extended substance’ is just one of God’s infinite attributes.</a:t>
            </a:r>
          </a:p>
          <a:p>
            <a:pPr lvl="1" eaLnBrk="1" hangingPunct="1">
              <a:lnSpc>
                <a:spcPct val="88000"/>
              </a:lnSpc>
            </a:pPr>
            <a:r>
              <a:rPr lang="en-US" altLang="en-US" sz="2400" dirty="0">
                <a:solidFill>
                  <a:schemeClr val="bg1"/>
                </a:solidFill>
                <a:latin typeface="Palatino Linotype" panose="02040502050505030304" pitchFamily="18" charset="0"/>
              </a:rPr>
              <a:t>This is no problem, because it’s already been shown that no substance can be divided, so it’s not like this threatens God with divisibility.</a:t>
            </a:r>
          </a:p>
        </p:txBody>
      </p:sp>
    </p:spTree>
    <p:extLst>
      <p:ext uri="{BB962C8B-B14F-4D97-AF65-F5344CB8AC3E}">
        <p14:creationId xmlns:p14="http://schemas.microsoft.com/office/powerpoint/2010/main" val="422848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r>
              <a:rPr lang="en-US" altLang="en-US" sz="3500" dirty="0">
                <a:solidFill>
                  <a:schemeClr val="bg1"/>
                </a:solidFill>
                <a:latin typeface="Palatino Linotype" panose="02040502050505030304" pitchFamily="18" charset="0"/>
              </a:rPr>
              <a:t>1p16: Infinity follows from God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Essence and properties:</a:t>
            </a:r>
          </a:p>
          <a:p>
            <a:pPr lvl="1" eaLnBrk="1" hangingPunct="1">
              <a:lnSpc>
                <a:spcPct val="88000"/>
              </a:lnSpc>
            </a:pPr>
            <a:r>
              <a:rPr lang="en-US" altLang="en-US" sz="2400" dirty="0">
                <a:solidFill>
                  <a:schemeClr val="bg1"/>
                </a:solidFill>
                <a:latin typeface="Palatino Linotype" panose="02040502050505030304" pitchFamily="18" charset="0"/>
              </a:rPr>
              <a:t>The more reality in </a:t>
            </a:r>
            <a:r>
              <a:rPr lang="en-US" altLang="en-US" sz="2400" i="1" dirty="0">
                <a:solidFill>
                  <a:schemeClr val="bg1"/>
                </a:solidFill>
                <a:latin typeface="Palatino Linotype" panose="02040502050505030304" pitchFamily="18" charset="0"/>
              </a:rPr>
              <a:t>x</a:t>
            </a:r>
            <a:r>
              <a:rPr lang="en-US" altLang="en-US" sz="2400" dirty="0">
                <a:solidFill>
                  <a:schemeClr val="bg1"/>
                </a:solidFill>
                <a:latin typeface="Palatino Linotype" panose="02040502050505030304" pitchFamily="18" charset="0"/>
              </a:rPr>
              <a:t>’s essence, the more properties inferred from </a:t>
            </a:r>
            <a:r>
              <a:rPr lang="en-US" altLang="en-US" sz="2400" i="1" dirty="0">
                <a:solidFill>
                  <a:schemeClr val="bg1"/>
                </a:solidFill>
                <a:latin typeface="Palatino Linotype" panose="02040502050505030304" pitchFamily="18" charset="0"/>
              </a:rPr>
              <a:t>x</a:t>
            </a:r>
            <a:r>
              <a:rPr lang="en-US" altLang="en-US" sz="2400" dirty="0">
                <a:solidFill>
                  <a:schemeClr val="bg1"/>
                </a:solidFill>
                <a:latin typeface="Palatino Linotype" panose="02040502050505030304" pitchFamily="18" charset="0"/>
              </a:rPr>
              <a:t>’s definition by the intellect</a:t>
            </a:r>
          </a:p>
          <a:p>
            <a:pPr lvl="1" eaLnBrk="1" hangingPunct="1">
              <a:lnSpc>
                <a:spcPct val="88000"/>
              </a:lnSpc>
            </a:pPr>
            <a:r>
              <a:rPr lang="en-US" altLang="en-US" sz="2400" dirty="0">
                <a:solidFill>
                  <a:schemeClr val="bg1"/>
                </a:solidFill>
                <a:latin typeface="Palatino Linotype" panose="02040502050505030304" pitchFamily="18" charset="0"/>
              </a:rPr>
              <a:t>God is absolutely infinite substance: the divine nature has infinitely many infinite-essence attributes</a:t>
            </a:r>
          </a:p>
          <a:p>
            <a:pPr lvl="1" eaLnBrk="1" hangingPunct="1">
              <a:lnSpc>
                <a:spcPct val="88000"/>
              </a:lnSpc>
            </a:pPr>
            <a:r>
              <a:rPr lang="en-US" altLang="en-US" sz="2400" dirty="0">
                <a:solidFill>
                  <a:schemeClr val="bg1"/>
                </a:solidFill>
                <a:latin typeface="Palatino Linotype" panose="02040502050505030304" pitchFamily="18" charset="0"/>
              </a:rPr>
              <a:t>So infinity follows from God: “an infinite number of things in infinite modes” or “an infinity in infinite ways” (what could be inferred by “infinite intellect”)</a:t>
            </a:r>
          </a:p>
          <a:p>
            <a:pPr eaLnBrk="1" hangingPunct="1">
              <a:lnSpc>
                <a:spcPct val="88000"/>
              </a:lnSpc>
            </a:pPr>
            <a:r>
              <a:rPr lang="en-US" altLang="en-US" sz="2800" dirty="0">
                <a:solidFill>
                  <a:schemeClr val="bg1"/>
                </a:solidFill>
                <a:latin typeface="Palatino Linotype" panose="02040502050505030304" pitchFamily="18" charset="0"/>
              </a:rPr>
              <a:t>It all follows necessarily:</a:t>
            </a:r>
          </a:p>
          <a:p>
            <a:pPr lvl="1" eaLnBrk="1" hangingPunct="1">
              <a:lnSpc>
                <a:spcPct val="88000"/>
              </a:lnSpc>
            </a:pPr>
            <a:r>
              <a:rPr lang="en-US" altLang="en-US" sz="2400" dirty="0">
                <a:solidFill>
                  <a:schemeClr val="bg1"/>
                </a:solidFill>
                <a:latin typeface="Palatino Linotype" panose="02040502050505030304" pitchFamily="18" charset="0"/>
              </a:rPr>
              <a:t>God is cause of these infinite effects, in that they follow “[f]rom the necessity of the divine nature”</a:t>
            </a:r>
          </a:p>
          <a:p>
            <a:pPr lvl="1" eaLnBrk="1" hangingPunct="1">
              <a:lnSpc>
                <a:spcPct val="88000"/>
              </a:lnSpc>
            </a:pPr>
            <a:r>
              <a:rPr lang="en-US" altLang="en-US" sz="2400" dirty="0">
                <a:solidFill>
                  <a:schemeClr val="bg1"/>
                </a:solidFill>
                <a:latin typeface="Palatino Linotype" panose="02040502050505030304" pitchFamily="18" charset="0"/>
              </a:rPr>
              <a:t>Much like properties follow from the essence of a triangle</a:t>
            </a:r>
          </a:p>
        </p:txBody>
      </p:sp>
    </p:spTree>
    <p:extLst>
      <p:ext uri="{BB962C8B-B14F-4D97-AF65-F5344CB8AC3E}">
        <p14:creationId xmlns:p14="http://schemas.microsoft.com/office/powerpoint/2010/main" val="370965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r>
              <a:rPr lang="en-US" altLang="en-US" sz="3500" dirty="0">
                <a:solidFill>
                  <a:schemeClr val="bg1"/>
                </a:solidFill>
                <a:latin typeface="Palatino Linotype" panose="02040502050505030304" pitchFamily="18" charset="0"/>
              </a:rPr>
              <a:t>1p17: God acts uncompelled,</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by the laws of the divine nature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Nothing to compel God:</a:t>
            </a:r>
          </a:p>
          <a:p>
            <a:pPr lvl="1" eaLnBrk="1" hangingPunct="1">
              <a:lnSpc>
                <a:spcPct val="88000"/>
              </a:lnSpc>
            </a:pPr>
            <a:r>
              <a:rPr lang="en-US" altLang="en-US" sz="2400" dirty="0">
                <a:solidFill>
                  <a:schemeClr val="bg1"/>
                </a:solidFill>
                <a:latin typeface="Palatino Linotype" panose="02040502050505030304" pitchFamily="18" charset="0"/>
              </a:rPr>
              <a:t>All things are in God, so there is nothing external to determine or compel God to act</a:t>
            </a:r>
          </a:p>
          <a:p>
            <a:pPr eaLnBrk="1" hangingPunct="1">
              <a:lnSpc>
                <a:spcPct val="88000"/>
              </a:lnSpc>
            </a:pPr>
            <a:r>
              <a:rPr lang="en-US" altLang="en-US" sz="2800" dirty="0">
                <a:solidFill>
                  <a:schemeClr val="bg1"/>
                </a:solidFill>
                <a:latin typeface="Palatino Linotype" panose="02040502050505030304" pitchFamily="18" charset="0"/>
              </a:rPr>
              <a:t>From the divine nature:</a:t>
            </a:r>
          </a:p>
          <a:p>
            <a:pPr lvl="1" eaLnBrk="1" hangingPunct="1">
              <a:lnSpc>
                <a:spcPct val="88000"/>
              </a:lnSpc>
            </a:pPr>
            <a:r>
              <a:rPr lang="en-US" altLang="en-US" sz="2400" dirty="0">
                <a:solidFill>
                  <a:schemeClr val="bg1"/>
                </a:solidFill>
                <a:latin typeface="Palatino Linotype" panose="02040502050505030304" pitchFamily="18" charset="0"/>
              </a:rPr>
              <a:t>These effects of God’s activity follow from the divine nature: i.e., from its necessity, from its laws</a:t>
            </a:r>
          </a:p>
          <a:p>
            <a:pPr lvl="1" eaLnBrk="1" hangingPunct="1">
              <a:lnSpc>
                <a:spcPct val="88000"/>
              </a:lnSpc>
            </a:pPr>
            <a:r>
              <a:rPr lang="en-US" altLang="en-US" sz="2400" dirty="0">
                <a:solidFill>
                  <a:schemeClr val="bg1"/>
                </a:solidFill>
                <a:latin typeface="Palatino Linotype" panose="02040502050505030304" pitchFamily="18" charset="0"/>
              </a:rPr>
              <a:t>It’s not as if God has some choice in the matter as to what does or does not follow: God’s omnipotence consists in infinite power producing infinite effects</a:t>
            </a:r>
          </a:p>
          <a:p>
            <a:pPr lvl="1" eaLnBrk="1" hangingPunct="1">
              <a:lnSpc>
                <a:spcPct val="88000"/>
              </a:lnSpc>
            </a:pPr>
            <a:r>
              <a:rPr lang="en-US" altLang="en-US" sz="2400" dirty="0">
                <a:solidFill>
                  <a:schemeClr val="bg1"/>
                </a:solidFill>
                <a:latin typeface="Palatino Linotype" panose="02040502050505030304" pitchFamily="18" charset="0"/>
              </a:rPr>
              <a:t>If intellect or will did pertain to God’s nature (they don’t), they would be radically different from anything else we call ‘intellect’ or ‘will’</a:t>
            </a:r>
          </a:p>
          <a:p>
            <a:pPr lvl="1" eaLnBrk="1" hangingPunct="1">
              <a:lnSpc>
                <a:spcPct val="88000"/>
              </a:lnSpc>
            </a:pPr>
            <a:endParaRPr lang="en-US" altLang="en-US" sz="24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71828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22238"/>
            <a:ext cx="8229600" cy="868362"/>
          </a:xfrm>
        </p:spPr>
        <p:txBody>
          <a:bodyPr/>
          <a:lstStyle/>
          <a:p>
            <a:pPr eaLnBrk="1" hangingPunct="1"/>
            <a:r>
              <a:rPr lang="en-US" altLang="en-US" sz="3500" dirty="0">
                <a:solidFill>
                  <a:schemeClr val="bg1"/>
                </a:solidFill>
                <a:latin typeface="Palatino Linotype" panose="02040502050505030304" pitchFamily="18" charset="0"/>
              </a:rPr>
              <a:t>Additional points in Part I</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066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What happens follows from God’s nature, not from some divine free will:</a:t>
            </a:r>
          </a:p>
          <a:p>
            <a:pPr lvl="1" eaLnBrk="1" hangingPunct="1">
              <a:lnSpc>
                <a:spcPct val="88000"/>
              </a:lnSpc>
            </a:pPr>
            <a:r>
              <a:rPr lang="en-US" altLang="en-US" sz="2400" dirty="0">
                <a:solidFill>
                  <a:schemeClr val="bg1"/>
                </a:solidFill>
                <a:latin typeface="Palatino Linotype" panose="02040502050505030304" pitchFamily="18" charset="0"/>
              </a:rPr>
              <a:t>Anything God can do, he </a:t>
            </a:r>
            <a:r>
              <a:rPr lang="en-US" altLang="en-US" sz="2400" i="1" dirty="0">
                <a:solidFill>
                  <a:schemeClr val="bg1"/>
                </a:solidFill>
                <a:latin typeface="Palatino Linotype" panose="02040502050505030304" pitchFamily="18" charset="0"/>
              </a:rPr>
              <a:t>does</a:t>
            </a:r>
            <a:r>
              <a:rPr lang="en-US" altLang="en-US" sz="2400" dirty="0">
                <a:solidFill>
                  <a:schemeClr val="bg1"/>
                </a:solidFill>
                <a:latin typeface="Palatino Linotype" panose="02040502050505030304" pitchFamily="18" charset="0"/>
              </a:rPr>
              <a:t> do. There is no divine will separate from a divine intellect.</a:t>
            </a:r>
          </a:p>
          <a:p>
            <a:pPr lvl="1" eaLnBrk="1" hangingPunct="1">
              <a:lnSpc>
                <a:spcPct val="88000"/>
              </a:lnSpc>
            </a:pPr>
            <a:r>
              <a:rPr lang="en-US" altLang="en-US" sz="2400" dirty="0">
                <a:solidFill>
                  <a:schemeClr val="bg1"/>
                </a:solidFill>
                <a:latin typeface="Palatino Linotype" panose="02040502050505030304" pitchFamily="18" charset="0"/>
              </a:rPr>
              <a:t>God is ‘free’ only in the sense of there being nothing external </a:t>
            </a:r>
            <a:r>
              <a:rPr lang="en-US" altLang="en-US" sz="2400" i="1" dirty="0">
                <a:solidFill>
                  <a:schemeClr val="bg1"/>
                </a:solidFill>
                <a:latin typeface="Palatino Linotype" panose="02040502050505030304" pitchFamily="18" charset="0"/>
              </a:rPr>
              <a:t>compelling</a:t>
            </a:r>
            <a:r>
              <a:rPr lang="en-US" altLang="en-US" sz="2400" dirty="0">
                <a:solidFill>
                  <a:schemeClr val="bg1"/>
                </a:solidFill>
                <a:latin typeface="Palatino Linotype" panose="02040502050505030304" pitchFamily="18" charset="0"/>
              </a:rPr>
              <a:t> God.</a:t>
            </a:r>
          </a:p>
          <a:p>
            <a:pPr eaLnBrk="1" hangingPunct="1">
              <a:lnSpc>
                <a:spcPct val="88000"/>
              </a:lnSpc>
            </a:pPr>
            <a:r>
              <a:rPr lang="en-US" altLang="en-US" sz="2800" dirty="0">
                <a:solidFill>
                  <a:schemeClr val="bg1"/>
                </a:solidFill>
                <a:latin typeface="Palatino Linotype" panose="02040502050505030304" pitchFamily="18" charset="0"/>
              </a:rPr>
              <a:t>Nature = God:</a:t>
            </a:r>
          </a:p>
          <a:p>
            <a:pPr lvl="1" eaLnBrk="1" hangingPunct="1">
              <a:lnSpc>
                <a:spcPct val="88000"/>
              </a:lnSpc>
            </a:pPr>
            <a:r>
              <a:rPr lang="en-US" altLang="en-US" sz="2400" dirty="0">
                <a:solidFill>
                  <a:schemeClr val="bg1"/>
                </a:solidFill>
                <a:latin typeface="Palatino Linotype" panose="02040502050505030304" pitchFamily="18" charset="0"/>
              </a:rPr>
              <a:t>More precisely, </a:t>
            </a:r>
            <a:r>
              <a:rPr lang="en-US" altLang="en-US" sz="2400" i="1" dirty="0">
                <a:solidFill>
                  <a:schemeClr val="bg1"/>
                </a:solidFill>
                <a:latin typeface="Palatino Linotype" panose="02040502050505030304" pitchFamily="18" charset="0"/>
              </a:rPr>
              <a:t>Natura </a:t>
            </a:r>
            <a:r>
              <a:rPr lang="en-US" altLang="en-US" sz="2400" i="1" dirty="0" err="1">
                <a:solidFill>
                  <a:schemeClr val="bg1"/>
                </a:solidFill>
                <a:latin typeface="Palatino Linotype" panose="02040502050505030304" pitchFamily="18" charset="0"/>
              </a:rPr>
              <a:t>naturans</a:t>
            </a:r>
            <a:r>
              <a:rPr lang="en-US" altLang="en-US" sz="2400" i="1" dirty="0">
                <a:solidFill>
                  <a:schemeClr val="bg1"/>
                </a:solidFill>
                <a:latin typeface="Palatino Linotype" panose="02040502050505030304" pitchFamily="18" charset="0"/>
              </a:rPr>
              <a:t> </a:t>
            </a:r>
            <a:r>
              <a:rPr lang="en-US" altLang="en-US" sz="2400" dirty="0">
                <a:solidFill>
                  <a:schemeClr val="bg1"/>
                </a:solidFill>
                <a:latin typeface="Palatino Linotype" panose="02040502050505030304" pitchFamily="18" charset="0"/>
              </a:rPr>
              <a:t>is the substance and its attributes, whereas </a:t>
            </a:r>
            <a:r>
              <a:rPr lang="en-US" altLang="en-US" sz="2400" i="1" dirty="0">
                <a:solidFill>
                  <a:schemeClr val="bg1"/>
                </a:solidFill>
                <a:latin typeface="Palatino Linotype" panose="02040502050505030304" pitchFamily="18" charset="0"/>
              </a:rPr>
              <a:t>Natura naturata </a:t>
            </a:r>
            <a:r>
              <a:rPr lang="en-US" altLang="en-US" sz="2400" dirty="0">
                <a:solidFill>
                  <a:schemeClr val="bg1"/>
                </a:solidFill>
                <a:latin typeface="Palatino Linotype" panose="02040502050505030304" pitchFamily="18" charset="0"/>
              </a:rPr>
              <a:t>is the modes of the substance.</a:t>
            </a:r>
          </a:p>
          <a:p>
            <a:pPr eaLnBrk="1" hangingPunct="1">
              <a:lnSpc>
                <a:spcPct val="88000"/>
              </a:lnSpc>
            </a:pPr>
            <a:r>
              <a:rPr lang="en-US" altLang="en-US" sz="2800" dirty="0">
                <a:solidFill>
                  <a:schemeClr val="bg1"/>
                </a:solidFill>
                <a:latin typeface="Palatino Linotype" panose="02040502050505030304" pitchFamily="18" charset="0"/>
              </a:rPr>
              <a:t>What happens is absolutely necessary:</a:t>
            </a:r>
          </a:p>
          <a:p>
            <a:pPr lvl="1" eaLnBrk="1" hangingPunct="1">
              <a:lnSpc>
                <a:spcPct val="88000"/>
              </a:lnSpc>
            </a:pPr>
            <a:r>
              <a:rPr lang="en-US" altLang="en-US" sz="2400" dirty="0">
                <a:solidFill>
                  <a:schemeClr val="bg1"/>
                </a:solidFill>
                <a:latin typeface="Palatino Linotype" panose="02040502050505030304" pitchFamily="18" charset="0"/>
              </a:rPr>
              <a:t>It necessarily follows from something that couldn’t have been otherwise.</a:t>
            </a:r>
          </a:p>
          <a:p>
            <a:pPr lvl="1" eaLnBrk="1" hangingPunct="1">
              <a:lnSpc>
                <a:spcPct val="88000"/>
              </a:lnSpc>
            </a:pPr>
            <a:r>
              <a:rPr lang="en-US" altLang="en-US" sz="2400" dirty="0">
                <a:solidFill>
                  <a:schemeClr val="bg1"/>
                </a:solidFill>
                <a:latin typeface="Palatino Linotype" panose="02040502050505030304" pitchFamily="18" charset="0"/>
              </a:rPr>
              <a:t>Contingency is merely a matter of ignorance.</a:t>
            </a:r>
          </a:p>
        </p:txBody>
      </p:sp>
    </p:spTree>
    <p:extLst>
      <p:ext uri="{BB962C8B-B14F-4D97-AF65-F5344CB8AC3E}">
        <p14:creationId xmlns:p14="http://schemas.microsoft.com/office/powerpoint/2010/main" val="67687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The number one prejudice to be overturned: “all natural things act for an end”:</a:t>
            </a:r>
          </a:p>
          <a:p>
            <a:pPr lvl="1" eaLnBrk="1" hangingPunct="1">
              <a:lnSpc>
                <a:spcPct val="88000"/>
              </a:lnSpc>
            </a:pPr>
            <a:r>
              <a:rPr lang="en-US" altLang="en-US" sz="2400" dirty="0">
                <a:solidFill>
                  <a:schemeClr val="bg1"/>
                </a:solidFill>
                <a:latin typeface="Palatino Linotype" panose="02040502050505030304" pitchFamily="18" charset="0"/>
              </a:rPr>
              <a:t>We humans act under the illusion of freedom, and we’re self-interested.</a:t>
            </a:r>
          </a:p>
          <a:p>
            <a:pPr lvl="1" eaLnBrk="1" hangingPunct="1">
              <a:lnSpc>
                <a:spcPct val="88000"/>
              </a:lnSpc>
            </a:pPr>
            <a:r>
              <a:rPr lang="en-US" altLang="en-US" sz="2400" dirty="0">
                <a:solidFill>
                  <a:schemeClr val="bg1"/>
                </a:solidFill>
                <a:latin typeface="Palatino Linotype" panose="02040502050505030304" pitchFamily="18" charset="0"/>
              </a:rPr>
              <a:t>We attribute conveniences in nature to superhuman gods with fickle temperaments that need to be (superstitiously) appeased.</a:t>
            </a:r>
          </a:p>
          <a:p>
            <a:pPr lvl="1" eaLnBrk="1" hangingPunct="1">
              <a:lnSpc>
                <a:spcPct val="88000"/>
              </a:lnSpc>
            </a:pPr>
            <a:r>
              <a:rPr lang="en-US" altLang="en-US" sz="2400" dirty="0">
                <a:solidFill>
                  <a:schemeClr val="bg1"/>
                </a:solidFill>
                <a:latin typeface="Palatino Linotype" panose="02040502050505030304" pitchFamily="18" charset="0"/>
              </a:rPr>
              <a:t>We attribute inconveniences in nature to the gods’ anger with us for our sins.</a:t>
            </a:r>
          </a:p>
          <a:p>
            <a:pPr lvl="1" eaLnBrk="1" hangingPunct="1">
              <a:lnSpc>
                <a:spcPct val="88000"/>
              </a:lnSpc>
            </a:pPr>
            <a:r>
              <a:rPr lang="en-US" altLang="en-US" sz="2400" dirty="0">
                <a:solidFill>
                  <a:schemeClr val="bg1"/>
                </a:solidFill>
                <a:latin typeface="Palatino Linotype" panose="02040502050505030304" pitchFamily="18" charset="0"/>
              </a:rPr>
              <a:t>But these inconveniences show up so indiscriminately that we’re forced to posit “mysterious ways”.</a:t>
            </a:r>
          </a:p>
          <a:p>
            <a:pPr lvl="1" eaLnBrk="1" hangingPunct="1">
              <a:lnSpc>
                <a:spcPct val="88000"/>
              </a:lnSpc>
            </a:pPr>
            <a:r>
              <a:rPr lang="en-US" altLang="en-US" sz="2400" dirty="0">
                <a:solidFill>
                  <a:schemeClr val="bg1"/>
                </a:solidFill>
                <a:latin typeface="Palatino Linotype" panose="02040502050505030304" pitchFamily="18" charset="0"/>
              </a:rPr>
              <a:t>We would have been stuck in ignorance forever, were it not for mathematics: essences/properties instead of </a:t>
            </a:r>
            <a:r>
              <a:rPr lang="en-US" altLang="en-US" sz="2400" i="1" dirty="0">
                <a:solidFill>
                  <a:schemeClr val="bg1"/>
                </a:solidFill>
                <a:latin typeface="Palatino Linotype" panose="02040502050505030304" pitchFamily="18" charset="0"/>
              </a:rPr>
              <a:t>ends</a:t>
            </a:r>
            <a:r>
              <a:rPr lang="en-US" altLang="en-US" sz="24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1601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Showing that final causes are human fictions:</a:t>
            </a:r>
          </a:p>
          <a:p>
            <a:pPr lvl="1" eaLnBrk="1" hangingPunct="1">
              <a:lnSpc>
                <a:spcPct val="88000"/>
              </a:lnSpc>
            </a:pPr>
            <a:r>
              <a:rPr lang="en-US" altLang="en-US" sz="2400" dirty="0">
                <a:solidFill>
                  <a:schemeClr val="bg1"/>
                </a:solidFill>
                <a:latin typeface="Palatino Linotype" panose="02040502050505030304" pitchFamily="18" charset="0"/>
              </a:rPr>
              <a:t>See E1p16 (p. 376); E1p32c1, E1p32c2 (p. 382)</a:t>
            </a:r>
          </a:p>
          <a:p>
            <a:pPr lvl="1" eaLnBrk="1" hangingPunct="1">
              <a:lnSpc>
                <a:spcPct val="88000"/>
              </a:lnSpc>
            </a:pPr>
            <a:r>
              <a:rPr lang="en-US" altLang="en-US" sz="2400" dirty="0">
                <a:solidFill>
                  <a:schemeClr val="bg1"/>
                </a:solidFill>
                <a:latin typeface="Palatino Linotype" panose="02040502050505030304" pitchFamily="18" charset="0"/>
              </a:rPr>
              <a:t>They turn nature upside down, getting cause and effect backwards.</a:t>
            </a:r>
          </a:p>
          <a:p>
            <a:pPr lvl="1" eaLnBrk="1" hangingPunct="1">
              <a:lnSpc>
                <a:spcPct val="88000"/>
              </a:lnSpc>
            </a:pPr>
            <a:r>
              <a:rPr lang="en-US" altLang="en-US" sz="2400" dirty="0">
                <a:solidFill>
                  <a:schemeClr val="bg1"/>
                </a:solidFill>
                <a:latin typeface="Palatino Linotype" panose="02040502050505030304" pitchFamily="18" charset="0"/>
              </a:rPr>
              <a:t>They detract from God’s perfection: he doesn’t lack anything and has no need of or desire for anything.</a:t>
            </a:r>
          </a:p>
          <a:p>
            <a:pPr lvl="1" eaLnBrk="1" hangingPunct="1">
              <a:lnSpc>
                <a:spcPct val="88000"/>
              </a:lnSpc>
            </a:pPr>
            <a:r>
              <a:rPr lang="en-US" altLang="en-US" sz="2400" dirty="0">
                <a:solidFill>
                  <a:schemeClr val="bg1"/>
                </a:solidFill>
                <a:latin typeface="Palatino Linotype" panose="02040502050505030304" pitchFamily="18" charset="0"/>
              </a:rPr>
              <a:t>They encourage arguments from ignorance: “how, if not through God’s will, could a stone have fallen exactly at that time on that person’s head???”</a:t>
            </a:r>
          </a:p>
          <a:p>
            <a:pPr lvl="1" eaLnBrk="1" hangingPunct="1">
              <a:lnSpc>
                <a:spcPct val="88000"/>
              </a:lnSpc>
            </a:pPr>
            <a:r>
              <a:rPr lang="en-US" altLang="en-US" sz="2400" dirty="0">
                <a:solidFill>
                  <a:schemeClr val="bg1"/>
                </a:solidFill>
                <a:latin typeface="Palatino Linotype" panose="02040502050505030304" pitchFamily="18" charset="0"/>
              </a:rPr>
              <a:t>They encourage foolish wonder, instead of seeking to understand natural things mechanically (e.g., human anatomy, miracles).</a:t>
            </a:r>
          </a:p>
        </p:txBody>
      </p:sp>
    </p:spTree>
    <p:extLst>
      <p:ext uri="{BB962C8B-B14F-4D97-AF65-F5344CB8AC3E}">
        <p14:creationId xmlns:p14="http://schemas.microsoft.com/office/powerpoint/2010/main" val="396403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Other notions (used for explaining nature) are “beings of imagination”:</a:t>
            </a:r>
          </a:p>
          <a:p>
            <a:pPr lvl="1" eaLnBrk="1" hangingPunct="1">
              <a:lnSpc>
                <a:spcPct val="88000"/>
              </a:lnSpc>
            </a:pPr>
            <a:r>
              <a:rPr lang="en-US" altLang="en-US" sz="2400" dirty="0">
                <a:solidFill>
                  <a:schemeClr val="bg1"/>
                </a:solidFill>
                <a:latin typeface="Palatino Linotype" panose="02040502050505030304" pitchFamily="18" charset="0"/>
              </a:rPr>
              <a:t>We judge by what benefits us: good, evil, order, confusion, beauty, ugliness, etc.</a:t>
            </a:r>
          </a:p>
          <a:p>
            <a:pPr lvl="1" eaLnBrk="1" hangingPunct="1">
              <a:lnSpc>
                <a:spcPct val="88000"/>
              </a:lnSpc>
            </a:pPr>
            <a:r>
              <a:rPr lang="en-US" altLang="en-US" sz="2400" dirty="0">
                <a:solidFill>
                  <a:schemeClr val="bg1"/>
                </a:solidFill>
                <a:latin typeface="Palatino Linotype" panose="02040502050505030304" pitchFamily="18" charset="0"/>
              </a:rPr>
              <a:t>Or by what encourages worship of God.</a:t>
            </a:r>
          </a:p>
          <a:p>
            <a:pPr lvl="1" eaLnBrk="1" hangingPunct="1">
              <a:lnSpc>
                <a:spcPct val="88000"/>
              </a:lnSpc>
            </a:pPr>
            <a:r>
              <a:rPr lang="en-US" altLang="en-US" sz="2400" dirty="0">
                <a:solidFill>
                  <a:schemeClr val="bg1"/>
                </a:solidFill>
                <a:latin typeface="Palatino Linotype" panose="02040502050505030304" pitchFamily="18" charset="0"/>
              </a:rPr>
              <a:t>Or by what’s easy to imagine: well-ordered, confused, etc.</a:t>
            </a:r>
          </a:p>
          <a:p>
            <a:pPr lvl="1" eaLnBrk="1" hangingPunct="1">
              <a:lnSpc>
                <a:spcPct val="88000"/>
              </a:lnSpc>
            </a:pPr>
            <a:r>
              <a:rPr lang="en-US" altLang="en-US" sz="2400" dirty="0">
                <a:solidFill>
                  <a:schemeClr val="bg1"/>
                </a:solidFill>
                <a:latin typeface="Palatino Linotype" panose="02040502050505030304" pitchFamily="18" charset="0"/>
              </a:rPr>
              <a:t>“Men have been so mad as to believe that God is pleased by harmony.”</a:t>
            </a:r>
          </a:p>
          <a:p>
            <a:pPr lvl="1" eaLnBrk="1" hangingPunct="1">
              <a:lnSpc>
                <a:spcPct val="88000"/>
              </a:lnSpc>
            </a:pPr>
            <a:r>
              <a:rPr lang="en-US" altLang="en-US" sz="2400" dirty="0">
                <a:solidFill>
                  <a:schemeClr val="bg1"/>
                </a:solidFill>
                <a:latin typeface="Palatino Linotype" panose="02040502050505030304" pitchFamily="18" charset="0"/>
              </a:rPr>
              <a:t>And all this gives rise to controversies, and then skepticism, and the problem of evil.</a:t>
            </a:r>
          </a:p>
          <a:p>
            <a:pPr lvl="1" eaLnBrk="1" hangingPunct="1">
              <a:lnSpc>
                <a:spcPct val="88000"/>
              </a:lnSpc>
            </a:pPr>
            <a:r>
              <a:rPr lang="en-US" altLang="en-US" sz="2400" dirty="0">
                <a:solidFill>
                  <a:schemeClr val="bg1"/>
                </a:solidFill>
                <a:latin typeface="Palatino Linotype" panose="02040502050505030304" pitchFamily="18" charset="0"/>
              </a:rPr>
              <a:t>Instead of recognizing that God produces everything he can, necessarily and by the laws of his nature.</a:t>
            </a:r>
          </a:p>
        </p:txBody>
      </p:sp>
    </p:spTree>
    <p:extLst>
      <p:ext uri="{BB962C8B-B14F-4D97-AF65-F5344CB8AC3E}">
        <p14:creationId xmlns:p14="http://schemas.microsoft.com/office/powerpoint/2010/main" val="221317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52400"/>
            <a:ext cx="8229600" cy="868362"/>
          </a:xfrm>
        </p:spPr>
        <p:txBody>
          <a:bodyPr/>
          <a:lstStyle/>
          <a:p>
            <a:pPr eaLnBrk="1" hangingPunct="1"/>
            <a:r>
              <a:rPr lang="en-US" altLang="en-US" sz="3700" dirty="0">
                <a:solidFill>
                  <a:schemeClr val="bg1"/>
                </a:solidFill>
                <a:latin typeface="Palatino Linotype" panose="02040502050505030304" pitchFamily="18" charset="0"/>
              </a:rPr>
              <a:t>Part II: The Human Mind</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906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Among God’s infinite attributes are the attribute </a:t>
            </a:r>
            <a:r>
              <a:rPr lang="en-US" altLang="en-US" sz="2400" spc="100" dirty="0">
                <a:solidFill>
                  <a:schemeClr val="bg1"/>
                </a:solidFill>
                <a:latin typeface="Palatino Linotype" panose="02040502050505030304" pitchFamily="18" charset="0"/>
              </a:rPr>
              <a:t>THOUGHT</a:t>
            </a:r>
            <a:r>
              <a:rPr lang="en-US" altLang="en-US" sz="2200" spc="100" dirty="0">
                <a:solidFill>
                  <a:schemeClr val="bg1"/>
                </a:solidFill>
                <a:latin typeface="Palatino Linotype" panose="02040502050505030304" pitchFamily="18" charset="0"/>
              </a:rPr>
              <a:t> </a:t>
            </a:r>
            <a:r>
              <a:rPr lang="en-US" altLang="en-US" sz="2800" dirty="0">
                <a:solidFill>
                  <a:schemeClr val="bg1"/>
                </a:solidFill>
                <a:latin typeface="Palatino Linotype" panose="02040502050505030304" pitchFamily="18" charset="0"/>
              </a:rPr>
              <a:t>and the attribute </a:t>
            </a:r>
            <a:r>
              <a:rPr lang="en-US" altLang="en-US" sz="2400" spc="100" dirty="0">
                <a:solidFill>
                  <a:schemeClr val="bg1"/>
                </a:solidFill>
                <a:latin typeface="Palatino Linotype" panose="02040502050505030304" pitchFamily="18" charset="0"/>
              </a:rPr>
              <a:t>EXTENSION</a:t>
            </a:r>
            <a:r>
              <a:rPr lang="en-US" altLang="en-US" sz="28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Everything that follows from God’s essence also shows up in God as an idea: all this under the attribute </a:t>
            </a:r>
            <a:r>
              <a:rPr lang="en-US" altLang="en-US" sz="2200" spc="100" dirty="0">
                <a:solidFill>
                  <a:schemeClr val="bg1"/>
                </a:solidFill>
                <a:latin typeface="Palatino Linotype" panose="02040502050505030304" pitchFamily="18" charset="0"/>
              </a:rPr>
              <a:t>THOUGHT</a:t>
            </a:r>
            <a:r>
              <a:rPr lang="en-US" altLang="en-US" sz="24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The modes of an attribute are caused by God </a:t>
            </a:r>
            <a:r>
              <a:rPr lang="en-US" altLang="en-US" sz="2400" i="1" dirty="0">
                <a:solidFill>
                  <a:schemeClr val="bg1"/>
                </a:solidFill>
                <a:latin typeface="Palatino Linotype" panose="02040502050505030304" pitchFamily="18" charset="0"/>
              </a:rPr>
              <a:t>under that attribute</a:t>
            </a:r>
            <a:r>
              <a:rPr lang="en-US" altLang="en-US" sz="2400" dirty="0">
                <a:solidFill>
                  <a:schemeClr val="bg1"/>
                </a:solidFill>
                <a:latin typeface="Palatino Linotype" panose="02040502050505030304" pitchFamily="18" charset="0"/>
              </a:rPr>
              <a:t>, not under any other attribute.</a:t>
            </a:r>
          </a:p>
          <a:p>
            <a:pPr eaLnBrk="1" hangingPunct="1">
              <a:lnSpc>
                <a:spcPct val="88000"/>
              </a:lnSpc>
            </a:pPr>
            <a:r>
              <a:rPr lang="en-US" altLang="en-US" sz="2800" dirty="0">
                <a:solidFill>
                  <a:schemeClr val="bg1"/>
                </a:solidFill>
                <a:latin typeface="Palatino Linotype" panose="02040502050505030304" pitchFamily="18" charset="0"/>
              </a:rPr>
              <a:t>“The order and connection of ideas is the same as the order and connection of things”:</a:t>
            </a:r>
          </a:p>
          <a:p>
            <a:pPr lvl="1" eaLnBrk="1" hangingPunct="1">
              <a:lnSpc>
                <a:spcPct val="88000"/>
              </a:lnSpc>
            </a:pPr>
            <a:r>
              <a:rPr lang="en-US" altLang="en-US" sz="2400" i="1" dirty="0">
                <a:solidFill>
                  <a:schemeClr val="bg1"/>
                </a:solidFill>
                <a:latin typeface="Palatino Linotype" panose="02040502050505030304" pitchFamily="18" charset="0"/>
              </a:rPr>
              <a:t>‘Parallelism’</a:t>
            </a:r>
            <a:r>
              <a:rPr lang="en-US" altLang="en-US" sz="2400" dirty="0">
                <a:solidFill>
                  <a:schemeClr val="bg1"/>
                </a:solidFill>
                <a:latin typeface="Palatino Linotype" panose="02040502050505030304" pitchFamily="18" charset="0"/>
              </a:rPr>
              <a:t>: the system of cause and effect under one attribute can also be understood under the attribute </a:t>
            </a:r>
            <a:r>
              <a:rPr lang="en-US" altLang="en-US" sz="2200" spc="100" dirty="0">
                <a:solidFill>
                  <a:schemeClr val="bg1"/>
                </a:solidFill>
                <a:latin typeface="Palatino Linotype" panose="02040502050505030304" pitchFamily="18" charset="0"/>
              </a:rPr>
              <a:t>THOUGHT </a:t>
            </a:r>
            <a:r>
              <a:rPr lang="en-US" altLang="en-US" sz="2400" dirty="0">
                <a:solidFill>
                  <a:schemeClr val="bg1"/>
                </a:solidFill>
                <a:latin typeface="Palatino Linotype" panose="02040502050505030304" pitchFamily="18" charset="0"/>
              </a:rPr>
              <a:t>as a system of ideas.</a:t>
            </a:r>
          </a:p>
          <a:p>
            <a:pPr lvl="1" eaLnBrk="1" hangingPunct="1">
              <a:lnSpc>
                <a:spcPct val="88000"/>
              </a:lnSpc>
            </a:pPr>
            <a:r>
              <a:rPr lang="en-US" altLang="en-US" sz="2400" dirty="0">
                <a:solidFill>
                  <a:schemeClr val="bg1"/>
                </a:solidFill>
                <a:latin typeface="Palatino Linotype" panose="02040502050505030304" pitchFamily="18" charset="0"/>
              </a:rPr>
              <a:t>‘</a:t>
            </a:r>
            <a:r>
              <a:rPr lang="en-US" altLang="en-US" sz="2400" i="1" dirty="0">
                <a:solidFill>
                  <a:schemeClr val="bg1"/>
                </a:solidFill>
                <a:latin typeface="Palatino Linotype" panose="02040502050505030304" pitchFamily="18" charset="0"/>
              </a:rPr>
              <a:t>Dual-aspect theory</a:t>
            </a:r>
            <a:r>
              <a:rPr lang="en-US" altLang="en-US" sz="2400" dirty="0">
                <a:solidFill>
                  <a:schemeClr val="bg1"/>
                </a:solidFill>
                <a:latin typeface="Palatino Linotype" panose="02040502050505030304" pitchFamily="18" charset="0"/>
              </a:rPr>
              <a:t>’: each mental state can also be understood as a physical state, and vice versa.</a:t>
            </a:r>
          </a:p>
        </p:txBody>
      </p:sp>
    </p:spTree>
    <p:extLst>
      <p:ext uri="{BB962C8B-B14F-4D97-AF65-F5344CB8AC3E}">
        <p14:creationId xmlns:p14="http://schemas.microsoft.com/office/powerpoint/2010/main" val="185235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6038"/>
            <a:ext cx="8229600" cy="868362"/>
          </a:xfrm>
        </p:spPr>
        <p:txBody>
          <a:bodyPr/>
          <a:lstStyle/>
          <a:p>
            <a:pPr eaLnBrk="1" hangingPunct="1"/>
            <a:r>
              <a:rPr lang="en-US" altLang="en-US" sz="3500" dirty="0">
                <a:solidFill>
                  <a:schemeClr val="bg1"/>
                </a:solidFill>
                <a:latin typeface="Palatino Linotype" panose="02040502050505030304" pitchFamily="18" charset="0"/>
              </a:rPr>
              <a:t>Part II: The Human Mind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60437"/>
            <a:ext cx="8229600" cy="4830763"/>
          </a:xfrm>
        </p:spPr>
        <p:txBody>
          <a:bodyPr/>
          <a:lstStyle/>
          <a:p>
            <a:pPr marL="0" indent="0" eaLnBrk="1" hangingPunct="1">
              <a:lnSpc>
                <a:spcPct val="88000"/>
              </a:lnSpc>
              <a:buNone/>
            </a:pPr>
            <a:r>
              <a:rPr lang="en-US" altLang="en-US" sz="2200" dirty="0">
                <a:solidFill>
                  <a:schemeClr val="bg1"/>
                </a:solidFill>
                <a:latin typeface="Palatino Linotype" panose="02040502050505030304" pitchFamily="18" charset="0"/>
              </a:rPr>
              <a:t>“For example, a circle existing in Nature and the idea of the existing circle, which is also in God, are one and the same thing, which is explained through different attributes. Therefore, whether we conceive Nature under the attribute of Extension, or under the attribute of Thought, or under any other attribute, we shall find one and the same order, </a:t>
            </a:r>
            <a:r>
              <a:rPr lang="en-US" altLang="en-US" sz="2200" i="1" dirty="0">
                <a:solidFill>
                  <a:schemeClr val="bg1"/>
                </a:solidFill>
                <a:latin typeface="Palatino Linotype" panose="02040502050505030304" pitchFamily="18" charset="0"/>
              </a:rPr>
              <a:t>or</a:t>
            </a:r>
            <a:r>
              <a:rPr lang="en-US" altLang="en-US" sz="2200" dirty="0">
                <a:solidFill>
                  <a:schemeClr val="bg1"/>
                </a:solidFill>
                <a:latin typeface="Palatino Linotype" panose="02040502050505030304" pitchFamily="18" charset="0"/>
              </a:rPr>
              <a:t> one and the same connection of causes, i.e., that the same things follow one another.” (1p7s)</a:t>
            </a:r>
          </a:p>
          <a:p>
            <a:pPr marL="0" indent="0" eaLnBrk="1" hangingPunct="1">
              <a:lnSpc>
                <a:spcPct val="88000"/>
              </a:lnSpc>
              <a:buNone/>
            </a:pPr>
            <a:endParaRPr lang="en-US" altLang="en-US" sz="700" dirty="0">
              <a:solidFill>
                <a:schemeClr val="bg1"/>
              </a:solidFill>
              <a:latin typeface="Palatino Linotype" panose="02040502050505030304" pitchFamily="18" charset="0"/>
            </a:endParaRPr>
          </a:p>
          <a:p>
            <a:pPr eaLnBrk="1" hangingPunct="1">
              <a:lnSpc>
                <a:spcPct val="88000"/>
              </a:lnSpc>
            </a:pPr>
            <a:r>
              <a:rPr lang="en-US" altLang="en-US" sz="2600" dirty="0">
                <a:solidFill>
                  <a:schemeClr val="bg1"/>
                </a:solidFill>
                <a:latin typeface="Palatino Linotype" panose="02040502050505030304" pitchFamily="18" charset="0"/>
              </a:rPr>
              <a:t>A human mind is just an idea of a certain mode of extension: viz. </a:t>
            </a:r>
            <a:r>
              <a:rPr lang="en-US" altLang="en-US" sz="2600" i="1" dirty="0">
                <a:solidFill>
                  <a:schemeClr val="bg1"/>
                </a:solidFill>
                <a:latin typeface="Palatino Linotype" panose="02040502050505030304" pitchFamily="18" charset="0"/>
              </a:rPr>
              <a:t>the human body</a:t>
            </a:r>
            <a:r>
              <a:rPr lang="en-US" altLang="en-US" sz="2600" dirty="0">
                <a:solidFill>
                  <a:schemeClr val="bg1"/>
                </a:solidFill>
                <a:latin typeface="Palatino Linotype" panose="02040502050505030304" pitchFamily="18" charset="0"/>
              </a:rPr>
              <a:t>.</a:t>
            </a:r>
          </a:p>
          <a:p>
            <a:pPr lvl="1" eaLnBrk="1" hangingPunct="1">
              <a:lnSpc>
                <a:spcPct val="88000"/>
              </a:lnSpc>
            </a:pPr>
            <a:r>
              <a:rPr lang="en-US" altLang="en-US" sz="2200" dirty="0">
                <a:solidFill>
                  <a:schemeClr val="bg1"/>
                </a:solidFill>
                <a:latin typeface="Palatino Linotype" panose="02040502050505030304" pitchFamily="18" charset="0"/>
              </a:rPr>
              <a:t>This is “what should be understood by the union of Mind and Body”.</a:t>
            </a:r>
          </a:p>
          <a:p>
            <a:pPr lvl="1" eaLnBrk="1" hangingPunct="1">
              <a:lnSpc>
                <a:spcPct val="88000"/>
              </a:lnSpc>
            </a:pPr>
            <a:r>
              <a:rPr lang="en-US" altLang="en-US" sz="2200" dirty="0">
                <a:solidFill>
                  <a:schemeClr val="bg1"/>
                </a:solidFill>
                <a:latin typeface="Palatino Linotype" panose="02040502050505030304" pitchFamily="18" charset="0"/>
              </a:rPr>
              <a:t>“[T]o determine what is the difference between the human Mind and the others, and how it surpasses them, it is necessary for us, as we have said, to know the nature of its object, i.e., of the human Body.”</a:t>
            </a:r>
          </a:p>
        </p:txBody>
      </p:sp>
    </p:spTree>
    <p:extLst>
      <p:ext uri="{BB962C8B-B14F-4D97-AF65-F5344CB8AC3E}">
        <p14:creationId xmlns:p14="http://schemas.microsoft.com/office/powerpoint/2010/main" val="139078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0"/>
            <a:ext cx="8229600" cy="868362"/>
          </a:xfrm>
        </p:spPr>
        <p:txBody>
          <a:bodyPr/>
          <a:lstStyle/>
          <a:p>
            <a:pPr eaLnBrk="1" hangingPunct="1"/>
            <a:r>
              <a:rPr lang="en-US" altLang="en-US" sz="3700" dirty="0">
                <a:solidFill>
                  <a:schemeClr val="bg1"/>
                </a:solidFill>
                <a:latin typeface="Palatino Linotype" panose="02040502050505030304" pitchFamily="18" charset="0"/>
              </a:rPr>
              <a:t>Part III: The Affects</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838200"/>
            <a:ext cx="8229600" cy="4830763"/>
          </a:xfrm>
        </p:spPr>
        <p:txBody>
          <a:bodyPr/>
          <a:lstStyle/>
          <a:p>
            <a:pPr eaLnBrk="1" hangingPunct="1">
              <a:lnSpc>
                <a:spcPct val="88000"/>
              </a:lnSpc>
            </a:pPr>
            <a:r>
              <a:rPr lang="en-US" altLang="en-US" sz="2600" dirty="0">
                <a:solidFill>
                  <a:schemeClr val="bg1"/>
                </a:solidFill>
                <a:latin typeface="Palatino Linotype" panose="02040502050505030304" pitchFamily="18" charset="0"/>
              </a:rPr>
              <a:t>There is no mind-body interaction:</a:t>
            </a:r>
          </a:p>
          <a:p>
            <a:pPr lvl="1" eaLnBrk="1" hangingPunct="1">
              <a:lnSpc>
                <a:spcPct val="88000"/>
              </a:lnSpc>
            </a:pPr>
            <a:r>
              <a:rPr lang="en-US" altLang="en-US" sz="2200" dirty="0">
                <a:solidFill>
                  <a:schemeClr val="bg1"/>
                </a:solidFill>
                <a:latin typeface="Palatino Linotype" panose="02040502050505030304" pitchFamily="18" charset="0"/>
              </a:rPr>
              <a:t>“The Body cannot determine the Mind to thinking, and the Mind cannot determine the Body to motion, to rest or to anything else (if there is anything else).”</a:t>
            </a:r>
          </a:p>
          <a:p>
            <a:pPr lvl="2" eaLnBrk="1" hangingPunct="1">
              <a:lnSpc>
                <a:spcPct val="88000"/>
              </a:lnSpc>
            </a:pPr>
            <a:r>
              <a:rPr lang="en-US" altLang="en-US" sz="2000" dirty="0">
                <a:solidFill>
                  <a:schemeClr val="bg1"/>
                </a:solidFill>
                <a:latin typeface="Palatino Linotype" panose="02040502050505030304" pitchFamily="18" charset="0"/>
              </a:rPr>
              <a:t>What determines the mind? Mental causes.</a:t>
            </a:r>
          </a:p>
          <a:p>
            <a:pPr lvl="2" eaLnBrk="1" hangingPunct="1">
              <a:lnSpc>
                <a:spcPct val="88000"/>
              </a:lnSpc>
            </a:pPr>
            <a:r>
              <a:rPr lang="en-US" altLang="en-US" sz="2000" dirty="0">
                <a:solidFill>
                  <a:schemeClr val="bg1"/>
                </a:solidFill>
                <a:latin typeface="Palatino Linotype" panose="02040502050505030304" pitchFamily="18" charset="0"/>
              </a:rPr>
              <a:t>What determines the body? Physical causes.</a:t>
            </a:r>
          </a:p>
          <a:p>
            <a:pPr lvl="2" eaLnBrk="1" hangingPunct="1">
              <a:lnSpc>
                <a:spcPct val="88000"/>
              </a:lnSpc>
            </a:pPr>
            <a:r>
              <a:rPr lang="en-US" altLang="en-US" sz="2000" dirty="0">
                <a:solidFill>
                  <a:schemeClr val="bg1"/>
                </a:solidFill>
                <a:latin typeface="Palatino Linotype" panose="02040502050505030304" pitchFamily="18" charset="0"/>
              </a:rPr>
              <a:t>“[T]he Mind and the Body are one and the same thing, which is conceived now under the attribute of Thought, now under the attribute of Extension.”</a:t>
            </a:r>
          </a:p>
          <a:p>
            <a:pPr lvl="1" eaLnBrk="1" hangingPunct="1">
              <a:lnSpc>
                <a:spcPct val="88000"/>
              </a:lnSpc>
            </a:pPr>
            <a:r>
              <a:rPr lang="en-US" altLang="en-US" sz="2200" dirty="0">
                <a:solidFill>
                  <a:schemeClr val="bg1"/>
                </a:solidFill>
                <a:latin typeface="Palatino Linotype" panose="02040502050505030304" pitchFamily="18" charset="0"/>
              </a:rPr>
              <a:t>The notion that the mind has free dominion over the body is an illusion.</a:t>
            </a:r>
          </a:p>
          <a:p>
            <a:pPr lvl="2" eaLnBrk="1" hangingPunct="1">
              <a:lnSpc>
                <a:spcPct val="88000"/>
              </a:lnSpc>
            </a:pPr>
            <a:r>
              <a:rPr lang="en-US" altLang="en-US" sz="2000" dirty="0">
                <a:solidFill>
                  <a:schemeClr val="bg1"/>
                </a:solidFill>
                <a:latin typeface="Palatino Linotype" panose="02040502050505030304" pitchFamily="18" charset="0"/>
              </a:rPr>
              <a:t>“All these things, indeed, show clearly that both the decision of the Mind and the appetite and the determination of the Body by nature exist together—or rather are one and the same thing, which we call a decision when it is considered under, and explained through, the attribute of Thought, and which we call a determination when it is considered under the attribute of Extension and deduced from the laws of motion and rest.”</a:t>
            </a:r>
          </a:p>
        </p:txBody>
      </p:sp>
    </p:spTree>
    <p:extLst>
      <p:ext uri="{BB962C8B-B14F-4D97-AF65-F5344CB8AC3E}">
        <p14:creationId xmlns:p14="http://schemas.microsoft.com/office/powerpoint/2010/main" val="55225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0"/>
            <a:ext cx="8229600" cy="868362"/>
          </a:xfrm>
        </p:spPr>
        <p:txBody>
          <a:bodyPr/>
          <a:lstStyle/>
          <a:p>
            <a:pPr eaLnBrk="1" hangingPunct="1"/>
            <a:endParaRPr lang="en-US" altLang="en-US" sz="3600"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655637"/>
            <a:ext cx="8229600" cy="4830763"/>
          </a:xfrm>
        </p:spPr>
        <p:txBody>
          <a:bodyPr/>
          <a:lstStyle/>
          <a:p>
            <a:pPr eaLnBrk="1" hangingPunct="1">
              <a:lnSpc>
                <a:spcPct val="92000"/>
              </a:lnSpc>
              <a:spcBef>
                <a:spcPts val="300"/>
              </a:spcBef>
            </a:pPr>
            <a:endParaRPr lang="en-US" altLang="en-US" sz="20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154381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0"/>
            <a:ext cx="8229600" cy="868362"/>
          </a:xfrm>
        </p:spPr>
        <p:txBody>
          <a:bodyPr/>
          <a:lstStyle/>
          <a:p>
            <a:pPr eaLnBrk="1" hangingPunct="1"/>
            <a:r>
              <a:rPr lang="en-US" altLang="en-US" sz="3600" dirty="0">
                <a:solidFill>
                  <a:schemeClr val="bg1"/>
                </a:solidFill>
                <a:latin typeface="Palatino Linotype" panose="02040502050505030304" pitchFamily="18" charset="0"/>
              </a:rPr>
              <a:t>Three kinds of dependence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655637"/>
            <a:ext cx="8229600" cy="4830763"/>
          </a:xfrm>
        </p:spPr>
        <p:txBody>
          <a:bodyPr/>
          <a:lstStyle/>
          <a:p>
            <a:pPr eaLnBrk="1" hangingPunct="1">
              <a:lnSpc>
                <a:spcPct val="92000"/>
              </a:lnSpc>
              <a:spcBef>
                <a:spcPts val="300"/>
              </a:spcBef>
            </a:pPr>
            <a:r>
              <a:rPr lang="en-US" altLang="en-US" sz="2400" dirty="0">
                <a:solidFill>
                  <a:schemeClr val="bg1"/>
                </a:solidFill>
                <a:latin typeface="Palatino Linotype" panose="02040502050505030304" pitchFamily="18" charset="0"/>
              </a:rPr>
              <a:t>“in”</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in</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  = </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ontologically depends on </a:t>
            </a:r>
            <a:r>
              <a:rPr lang="en-US" altLang="en-US" sz="2000" i="1" dirty="0">
                <a:solidFill>
                  <a:schemeClr val="bg1"/>
                </a:solidFill>
                <a:latin typeface="Palatino Linotype" panose="02040502050505030304" pitchFamily="18" charset="0"/>
              </a:rPr>
              <a:t>B.</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exists only because of </a:t>
            </a:r>
            <a:r>
              <a:rPr lang="en-US" altLang="en-US" sz="1800" i="1" dirty="0">
                <a:solidFill>
                  <a:schemeClr val="bg1"/>
                </a:solidFill>
                <a:latin typeface="Palatino Linotype" panose="02040502050505030304" pitchFamily="18" charset="0"/>
              </a:rPr>
              <a:t>B</a:t>
            </a:r>
            <a:r>
              <a:rPr lang="en-US" altLang="en-US" sz="18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Think of the way a basketball’s qualities </a:t>
            </a:r>
            <a:r>
              <a:rPr lang="en-US" altLang="en-US" sz="2000" i="1" dirty="0">
                <a:solidFill>
                  <a:schemeClr val="bg1"/>
                </a:solidFill>
                <a:latin typeface="Palatino Linotype" panose="02040502050505030304" pitchFamily="18" charset="0"/>
              </a:rPr>
              <a:t>inhere in </a:t>
            </a:r>
            <a:r>
              <a:rPr lang="en-US" altLang="en-US" sz="2000" dirty="0">
                <a:solidFill>
                  <a:schemeClr val="bg1"/>
                </a:solidFill>
                <a:latin typeface="Palatino Linotype" panose="02040502050505030304" pitchFamily="18" charset="0"/>
              </a:rPr>
              <a:t>the basketball.</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“in itself”: it doesn’t depend on anything else for its existence.</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“conceived through”</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conceived through</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conceptually depends on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can be understood/known only in terms of </a:t>
            </a:r>
            <a:r>
              <a:rPr lang="en-US" altLang="en-US" sz="1800" i="1" dirty="0">
                <a:solidFill>
                  <a:schemeClr val="bg1"/>
                </a:solidFill>
                <a:latin typeface="Palatino Linotype" panose="02040502050505030304" pitchFamily="18" charset="0"/>
              </a:rPr>
              <a:t>B.</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The only way to understand/know the bumpiness of a basketball is in terms of the basketball itself.</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“conceived through itself”: it doesn’t depend on anything else for its conceptualization.</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cause-effect</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caused by</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the effect of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A4: “The knowledge of an effect depends on, and involves, the knowledge of its cause”: causal relations go with conceptual relations.</a:t>
            </a:r>
          </a:p>
        </p:txBody>
      </p:sp>
    </p:spTree>
    <p:extLst>
      <p:ext uri="{BB962C8B-B14F-4D97-AF65-F5344CB8AC3E}">
        <p14:creationId xmlns:p14="http://schemas.microsoft.com/office/powerpoint/2010/main" val="103069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5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74638"/>
            <a:ext cx="8229600" cy="868362"/>
          </a:xfrm>
        </p:spPr>
        <p:txBody>
          <a:bodyPr/>
          <a:lstStyle/>
          <a:p>
            <a:pPr eaLnBrk="1" hangingPunct="1"/>
            <a:r>
              <a:rPr lang="en-US" altLang="en-US" dirty="0">
                <a:solidFill>
                  <a:schemeClr val="bg1"/>
                </a:solidFill>
                <a:latin typeface="Palatino Linotype" panose="02040502050505030304" pitchFamily="18" charset="0"/>
              </a:rPr>
              <a:t>1p1: Substance prior to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Modes depend on substances:</a:t>
            </a:r>
          </a:p>
          <a:p>
            <a:pPr lvl="1" eaLnBrk="1" hangingPunct="1">
              <a:lnSpc>
                <a:spcPct val="90000"/>
              </a:lnSpc>
            </a:pPr>
            <a:r>
              <a:rPr lang="en-US" altLang="en-US" sz="2400" dirty="0">
                <a:solidFill>
                  <a:schemeClr val="bg1"/>
                </a:solidFill>
                <a:latin typeface="Palatino Linotype" panose="02040502050505030304" pitchFamily="18" charset="0"/>
              </a:rPr>
              <a:t>Modes are </a:t>
            </a:r>
            <a:r>
              <a:rPr lang="en-US" altLang="en-US" sz="2400" i="1" dirty="0">
                <a:solidFill>
                  <a:schemeClr val="bg1"/>
                </a:solidFill>
                <a:latin typeface="Palatino Linotype" panose="02040502050505030304" pitchFamily="18" charset="0"/>
              </a:rPr>
              <a:t>in </a:t>
            </a:r>
            <a:r>
              <a:rPr lang="en-US" altLang="en-US" sz="2400" dirty="0">
                <a:solidFill>
                  <a:schemeClr val="bg1"/>
                </a:solidFill>
                <a:latin typeface="Palatino Linotype" panose="02040502050505030304" pitchFamily="18" charset="0"/>
              </a:rPr>
              <a:t>and </a:t>
            </a:r>
            <a:r>
              <a:rPr lang="en-US" altLang="en-US" sz="2400" i="1" dirty="0">
                <a:solidFill>
                  <a:schemeClr val="bg1"/>
                </a:solidFill>
                <a:latin typeface="Palatino Linotype" panose="02040502050505030304" pitchFamily="18" charset="0"/>
              </a:rPr>
              <a:t>conceived through </a:t>
            </a:r>
            <a:r>
              <a:rPr lang="en-US" altLang="en-US" sz="2400" dirty="0">
                <a:solidFill>
                  <a:schemeClr val="bg1"/>
                </a:solidFill>
                <a:latin typeface="Palatino Linotype" panose="02040502050505030304" pitchFamily="18" charset="0"/>
              </a:rPr>
              <a:t>substances.</a:t>
            </a:r>
          </a:p>
          <a:p>
            <a:pPr lvl="1" eaLnBrk="1" hangingPunct="1">
              <a:lnSpc>
                <a:spcPct val="90000"/>
              </a:lnSpc>
            </a:pPr>
            <a:r>
              <a:rPr lang="en-US" altLang="en-US" sz="2400" dirty="0">
                <a:solidFill>
                  <a:schemeClr val="bg1"/>
                </a:solidFill>
                <a:latin typeface="Palatino Linotype" panose="02040502050505030304" pitchFamily="18" charset="0"/>
              </a:rPr>
              <a:t>This is just the definition of ‘substance’ (D3) and the definition of ‘mode’ (D5)</a:t>
            </a:r>
          </a:p>
          <a:p>
            <a:pPr eaLnBrk="1" hangingPunct="1">
              <a:lnSpc>
                <a:spcPct val="90000"/>
              </a:lnSpc>
            </a:pPr>
            <a:r>
              <a:rPr lang="en-US" altLang="en-US" sz="2800" dirty="0">
                <a:solidFill>
                  <a:schemeClr val="bg1"/>
                </a:solidFill>
                <a:latin typeface="Palatino Linotype" panose="02040502050505030304" pitchFamily="18" charset="0"/>
              </a:rPr>
              <a:t>Sometimes Spinoza uses the word ‘affections’ instead of the word ‘modes’.</a:t>
            </a:r>
          </a:p>
          <a:p>
            <a:pPr lvl="1" eaLnBrk="1" hangingPunct="1">
              <a:lnSpc>
                <a:spcPct val="90000"/>
              </a:lnSpc>
            </a:pPr>
            <a:r>
              <a:rPr lang="en-US" altLang="en-US" sz="2400" dirty="0">
                <a:solidFill>
                  <a:schemeClr val="bg1"/>
                </a:solidFill>
                <a:latin typeface="Palatino Linotype" panose="02040502050505030304" pitchFamily="18" charset="0"/>
              </a:rPr>
              <a:t>Also ‘modifications’</a:t>
            </a:r>
          </a:p>
        </p:txBody>
      </p:sp>
    </p:spTree>
    <p:extLst>
      <p:ext uri="{BB962C8B-B14F-4D97-AF65-F5344CB8AC3E}">
        <p14:creationId xmlns:p14="http://schemas.microsoft.com/office/powerpoint/2010/main" val="268163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600" dirty="0">
                <a:solidFill>
                  <a:schemeClr val="bg1"/>
                </a:solidFill>
                <a:latin typeface="Palatino Linotype" panose="02040502050505030304" pitchFamily="18" charset="0"/>
              </a:rPr>
              <a:t>1p2: Different-attribute substances have nothing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Think of what Descartes would say about a mind and a body.</a:t>
            </a:r>
          </a:p>
          <a:p>
            <a:pPr lvl="1" eaLnBrk="1" hangingPunct="1">
              <a:lnSpc>
                <a:spcPct val="90000"/>
              </a:lnSpc>
            </a:pPr>
            <a:r>
              <a:rPr lang="en-US" altLang="en-US" sz="2400" dirty="0">
                <a:solidFill>
                  <a:schemeClr val="bg1"/>
                </a:solidFill>
                <a:latin typeface="Palatino Linotype" panose="02040502050505030304" pitchFamily="18" charset="0"/>
              </a:rPr>
              <a:t>All a mind’s modes are </a:t>
            </a:r>
            <a:r>
              <a:rPr lang="en-US" altLang="en-US" sz="2400" i="1" dirty="0">
                <a:solidFill>
                  <a:schemeClr val="bg1"/>
                </a:solidFill>
                <a:latin typeface="Palatino Linotype" panose="02040502050505030304" pitchFamily="18" charset="0"/>
              </a:rPr>
              <a:t>thoughts</a:t>
            </a:r>
            <a:r>
              <a:rPr lang="en-US" altLang="en-US" sz="2400" dirty="0">
                <a:solidFill>
                  <a:schemeClr val="bg1"/>
                </a:solidFill>
                <a:latin typeface="Palatino Linotype" panose="02040502050505030304" pitchFamily="18" charset="0"/>
              </a:rPr>
              <a:t>. All a body’s modes are </a:t>
            </a:r>
            <a:r>
              <a:rPr lang="en-US" altLang="en-US" sz="2400" i="1" dirty="0">
                <a:solidFill>
                  <a:schemeClr val="bg1"/>
                </a:solidFill>
                <a:latin typeface="Palatino Linotype" panose="02040502050505030304" pitchFamily="18" charset="0"/>
              </a:rPr>
              <a:t>shapes, motions, etc</a:t>
            </a:r>
            <a:r>
              <a:rPr lang="en-US" altLang="en-US" sz="2400" dirty="0">
                <a:solidFill>
                  <a:schemeClr val="bg1"/>
                </a:solidFill>
                <a:latin typeface="Palatino Linotype" panose="02040502050505030304" pitchFamily="18" charset="0"/>
              </a:rPr>
              <a:t>.</a:t>
            </a:r>
          </a:p>
          <a:p>
            <a:pPr eaLnBrk="1" hangingPunct="1">
              <a:lnSpc>
                <a:spcPct val="90000"/>
              </a:lnSpc>
            </a:pPr>
            <a:r>
              <a:rPr lang="en-US" altLang="en-US" sz="2800" dirty="0">
                <a:solidFill>
                  <a:schemeClr val="bg1"/>
                </a:solidFill>
                <a:latin typeface="Palatino Linotype" panose="02040502050505030304" pitchFamily="18" charset="0"/>
              </a:rPr>
              <a:t>Each type of substance must exist and be understood on its own terms.</a:t>
            </a:r>
          </a:p>
        </p:txBody>
      </p:sp>
    </p:spTree>
    <p:extLst>
      <p:ext uri="{BB962C8B-B14F-4D97-AF65-F5344CB8AC3E}">
        <p14:creationId xmlns:p14="http://schemas.microsoft.com/office/powerpoint/2010/main" val="312270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800" dirty="0">
                <a:solidFill>
                  <a:schemeClr val="bg1"/>
                </a:solidFill>
                <a:latin typeface="Palatino Linotype" panose="02040502050505030304" pitchFamily="18" charset="0"/>
              </a:rPr>
              <a:t>1p3: Cause and effect must have something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Remember, causal relations go with conceptual relations. (A4)</a:t>
            </a:r>
          </a:p>
          <a:p>
            <a:pPr lvl="1" eaLnBrk="1" hangingPunct="1">
              <a:lnSpc>
                <a:spcPct val="90000"/>
              </a:lnSpc>
            </a:pPr>
            <a:r>
              <a:rPr lang="en-US" altLang="en-US" sz="2400" dirty="0">
                <a:solidFill>
                  <a:schemeClr val="bg1"/>
                </a:solidFill>
                <a:latin typeface="Palatino Linotype" panose="02040502050505030304" pitchFamily="18" charset="0"/>
              </a:rPr>
              <a:t>If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is caused by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then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is conceived through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a:t>
            </a:r>
          </a:p>
          <a:p>
            <a:pPr lvl="1" eaLnBrk="1" hangingPunct="1">
              <a:lnSpc>
                <a:spcPct val="90000"/>
              </a:lnSpc>
            </a:pPr>
            <a:r>
              <a:rPr lang="en-US" altLang="en-US" sz="2400" dirty="0">
                <a:solidFill>
                  <a:schemeClr val="bg1"/>
                </a:solidFill>
                <a:latin typeface="Palatino Linotype" panose="02040502050505030304" pitchFamily="18" charset="0"/>
              </a:rPr>
              <a:t>An effect can be understood only in terms of its cause.</a:t>
            </a:r>
          </a:p>
          <a:p>
            <a:pPr eaLnBrk="1" hangingPunct="1">
              <a:lnSpc>
                <a:spcPct val="90000"/>
              </a:lnSpc>
            </a:pPr>
            <a:r>
              <a:rPr lang="en-US" altLang="en-US" sz="2800" dirty="0">
                <a:solidFill>
                  <a:schemeClr val="bg1"/>
                </a:solidFill>
                <a:latin typeface="Palatino Linotype" panose="02040502050505030304" pitchFamily="18" charset="0"/>
              </a:rPr>
              <a:t>And conceptual relations go with having something in common. (A5)</a:t>
            </a:r>
          </a:p>
          <a:p>
            <a:pPr lvl="1" eaLnBrk="1" hangingPunct="1">
              <a:lnSpc>
                <a:spcPct val="90000"/>
              </a:lnSpc>
            </a:pPr>
            <a:r>
              <a:rPr lang="en-US" altLang="en-US" sz="2400" dirty="0">
                <a:solidFill>
                  <a:schemeClr val="bg1"/>
                </a:solidFill>
                <a:latin typeface="Palatino Linotype" panose="02040502050505030304" pitchFamily="18" charset="0"/>
              </a:rPr>
              <a:t>How could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be conceived through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if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had nothing in common with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149471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800" dirty="0">
                <a:solidFill>
                  <a:schemeClr val="bg1"/>
                </a:solidFill>
                <a:latin typeface="Palatino Linotype" panose="02040502050505030304" pitchFamily="18" charset="0"/>
              </a:rPr>
              <a:t>1p4: Distinctness is due to differing attributes or differing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r>
              <a:rPr lang="en-US" altLang="en-US" sz="2800" dirty="0">
                <a:solidFill>
                  <a:schemeClr val="bg1"/>
                </a:solidFill>
                <a:latin typeface="Palatino Linotype" panose="02040502050505030304" pitchFamily="18" charset="0"/>
              </a:rPr>
              <a:t>Nothing in the world other than substances and modes.</a:t>
            </a:r>
          </a:p>
          <a:p>
            <a:pPr eaLnBrk="1" hangingPunct="1"/>
            <a:r>
              <a:rPr lang="en-US" altLang="en-US" sz="2800" dirty="0">
                <a:solidFill>
                  <a:schemeClr val="bg1"/>
                </a:solidFill>
                <a:latin typeface="Palatino Linotype" panose="02040502050505030304" pitchFamily="18" charset="0"/>
              </a:rPr>
              <a:t>And if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then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must differ somehow.</a:t>
            </a:r>
          </a:p>
          <a:p>
            <a:pPr eaLnBrk="1" hangingPunct="1"/>
            <a:r>
              <a:rPr lang="en-US" altLang="en-US" sz="2800" dirty="0">
                <a:solidFill>
                  <a:schemeClr val="bg1"/>
                </a:solidFill>
                <a:latin typeface="Palatino Linotype" panose="02040502050505030304" pitchFamily="18" charset="0"/>
              </a:rPr>
              <a:t>Only two possible ways for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to differ:</a:t>
            </a:r>
          </a:p>
          <a:p>
            <a:pPr lvl="1" eaLnBrk="1" hangingPunct="1"/>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and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differ in their attributes: e.g.,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is a mind and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is a body.</a:t>
            </a:r>
          </a:p>
          <a:p>
            <a:pPr lvl="1" eaLnBrk="1" hangingPunct="1"/>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and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differ in their modes (but are alike in attribute): e.g., </a:t>
            </a:r>
            <a:r>
              <a:rPr lang="en-US" altLang="en-US" sz="2400" i="1" dirty="0">
                <a:solidFill>
                  <a:schemeClr val="bg1"/>
                </a:solidFill>
                <a:latin typeface="Palatino Linotype" panose="02040502050505030304" pitchFamily="18" charset="0"/>
              </a:rPr>
              <a:t>A</a:t>
            </a:r>
            <a:r>
              <a:rPr lang="en-US" altLang="en-US" sz="2400" dirty="0">
                <a:solidFill>
                  <a:schemeClr val="bg1"/>
                </a:solidFill>
                <a:latin typeface="Palatino Linotype" panose="02040502050505030304" pitchFamily="18" charset="0"/>
              </a:rPr>
              <a:t> and </a:t>
            </a:r>
            <a:r>
              <a:rPr lang="en-US" altLang="en-US" sz="2400" i="1" dirty="0">
                <a:solidFill>
                  <a:schemeClr val="bg1"/>
                </a:solidFill>
                <a:latin typeface="Palatino Linotype" panose="02040502050505030304" pitchFamily="18" charset="0"/>
              </a:rPr>
              <a:t>B</a:t>
            </a:r>
            <a:r>
              <a:rPr lang="en-US" altLang="en-US" sz="2400" dirty="0">
                <a:solidFill>
                  <a:schemeClr val="bg1"/>
                </a:solidFill>
                <a:latin typeface="Palatino Linotype" panose="02040502050505030304" pitchFamily="18" charset="0"/>
              </a:rPr>
              <a:t> are both minds and they have different thoughts.</a:t>
            </a:r>
          </a:p>
        </p:txBody>
      </p:sp>
    </p:spTree>
    <p:extLst>
      <p:ext uri="{BB962C8B-B14F-4D97-AF65-F5344CB8AC3E}">
        <p14:creationId xmlns:p14="http://schemas.microsoft.com/office/powerpoint/2010/main" val="26767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1p5: Impossible to have two substances alike in attribute differing only in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90000"/>
              </a:lnSpc>
              <a:spcBef>
                <a:spcPts val="1100"/>
              </a:spcBef>
            </a:pPr>
            <a:r>
              <a:rPr lang="en-US" altLang="en-US" sz="2800" dirty="0">
                <a:solidFill>
                  <a:schemeClr val="bg1"/>
                </a:solidFill>
                <a:latin typeface="Palatino Linotype" panose="02040502050505030304" pitchFamily="18" charset="0"/>
              </a:rPr>
              <a:t>Impossible to have two distinct minds, or two distinct bodies.</a:t>
            </a:r>
          </a:p>
          <a:p>
            <a:pPr eaLnBrk="1" hangingPunct="1">
              <a:lnSpc>
                <a:spcPct val="90000"/>
              </a:lnSpc>
              <a:spcBef>
                <a:spcPts val="1100"/>
              </a:spcBef>
            </a:pPr>
            <a:r>
              <a:rPr lang="en-US" altLang="en-US" sz="2800" dirty="0">
                <a:solidFill>
                  <a:schemeClr val="bg1"/>
                </a:solidFill>
                <a:latin typeface="Palatino Linotype" panose="02040502050505030304" pitchFamily="18" charset="0"/>
              </a:rPr>
              <a:t>If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differ only in modes, then when you set aside their modes and focus on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itself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itself, there is no difference between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a:t>
            </a:r>
          </a:p>
          <a:p>
            <a:pPr eaLnBrk="1" hangingPunct="1">
              <a:lnSpc>
                <a:spcPct val="90000"/>
              </a:lnSpc>
              <a:spcBef>
                <a:spcPts val="1100"/>
              </a:spcBef>
            </a:pPr>
            <a:r>
              <a:rPr lang="en-US" altLang="en-US" sz="2800" dirty="0">
                <a:solidFill>
                  <a:schemeClr val="bg1"/>
                </a:solidFill>
                <a:latin typeface="Palatino Linotype" panose="02040502050505030304" pitchFamily="18" charset="0"/>
              </a:rPr>
              <a:t>And that means </a:t>
            </a:r>
            <a:r>
              <a:rPr lang="en-US" altLang="en-US" sz="2800" i="1" dirty="0">
                <a:solidFill>
                  <a:schemeClr val="bg1"/>
                </a:solidFill>
                <a:latin typeface="Palatino Linotype" panose="02040502050505030304" pitchFamily="18" charset="0"/>
              </a:rPr>
              <a:t>A</a:t>
            </a:r>
            <a:r>
              <a:rPr lang="en-US" altLang="en-US" sz="2800" dirty="0">
                <a:solidFill>
                  <a:schemeClr val="bg1"/>
                </a:solidFill>
                <a:latin typeface="Palatino Linotype" panose="02040502050505030304" pitchFamily="18" charset="0"/>
              </a:rPr>
              <a:t> and </a:t>
            </a:r>
            <a:r>
              <a:rPr lang="en-US" altLang="en-US" sz="2800" i="1" dirty="0">
                <a:solidFill>
                  <a:schemeClr val="bg1"/>
                </a:solidFill>
                <a:latin typeface="Palatino Linotype" panose="02040502050505030304" pitchFamily="18" charset="0"/>
              </a:rPr>
              <a:t>B</a:t>
            </a:r>
            <a:r>
              <a:rPr lang="en-US" altLang="en-US" sz="2800" dirty="0">
                <a:solidFill>
                  <a:schemeClr val="bg1"/>
                </a:solidFill>
                <a:latin typeface="Palatino Linotype" panose="02040502050505030304" pitchFamily="18" charset="0"/>
              </a:rPr>
              <a:t> are identical after all.</a:t>
            </a:r>
          </a:p>
          <a:p>
            <a:pPr eaLnBrk="1" hangingPunct="1">
              <a:lnSpc>
                <a:spcPct val="90000"/>
              </a:lnSpc>
              <a:spcBef>
                <a:spcPts val="1100"/>
              </a:spcBef>
            </a:pPr>
            <a:r>
              <a:rPr lang="en-US" altLang="en-US" sz="2800" dirty="0">
                <a:solidFill>
                  <a:schemeClr val="bg1"/>
                </a:solidFill>
                <a:latin typeface="Palatino Linotype" panose="02040502050505030304" pitchFamily="18" charset="0"/>
              </a:rPr>
              <a:t>For example, if two minds differ only in their modes, then there is no difference between one mind and the other when you focus on the minds themselves—which means it’s just one mind after all!</a:t>
            </a:r>
          </a:p>
        </p:txBody>
      </p:sp>
    </p:spTree>
    <p:extLst>
      <p:ext uri="{BB962C8B-B14F-4D97-AF65-F5344CB8AC3E}">
        <p14:creationId xmlns:p14="http://schemas.microsoft.com/office/powerpoint/2010/main" val="123456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1p6: Impossible for two substances</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to be causally related</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For two substances to be causally related, they must have something in common.</a:t>
            </a:r>
          </a:p>
          <a:p>
            <a:pPr eaLnBrk="1" hangingPunct="1">
              <a:lnSpc>
                <a:spcPct val="90000"/>
              </a:lnSpc>
            </a:pPr>
            <a:r>
              <a:rPr lang="en-US" altLang="en-US" sz="2800" dirty="0">
                <a:solidFill>
                  <a:schemeClr val="bg1"/>
                </a:solidFill>
                <a:latin typeface="Palatino Linotype" panose="02040502050505030304" pitchFamily="18" charset="0"/>
              </a:rPr>
              <a:t>But to have something in common, they must have the same attribute.</a:t>
            </a:r>
          </a:p>
          <a:p>
            <a:pPr eaLnBrk="1" hangingPunct="1">
              <a:lnSpc>
                <a:spcPct val="90000"/>
              </a:lnSpc>
            </a:pPr>
            <a:r>
              <a:rPr lang="en-US" altLang="en-US" sz="2800" dirty="0">
                <a:solidFill>
                  <a:schemeClr val="bg1"/>
                </a:solidFill>
                <a:latin typeface="Palatino Linotype" panose="02040502050505030304" pitchFamily="18" charset="0"/>
              </a:rPr>
              <a:t>But it’s impossible to have two distinct substances alike in attribute (differing only in their modes).</a:t>
            </a:r>
          </a:p>
          <a:p>
            <a:pPr eaLnBrk="1" hangingPunct="1">
              <a:lnSpc>
                <a:spcPct val="90000"/>
              </a:lnSpc>
            </a:pPr>
            <a:r>
              <a:rPr lang="en-US" altLang="en-US" sz="2800" dirty="0">
                <a:solidFill>
                  <a:schemeClr val="bg1"/>
                </a:solidFill>
                <a:latin typeface="Palatino Linotype" panose="02040502050505030304" pitchFamily="18" charset="0"/>
              </a:rPr>
              <a:t>So it’s impossible for one substance to be the cause of another substance.</a:t>
            </a:r>
          </a:p>
          <a:p>
            <a:pPr eaLnBrk="1" hangingPunct="1">
              <a:lnSpc>
                <a:spcPct val="90000"/>
              </a:lnSpc>
            </a:pPr>
            <a:r>
              <a:rPr lang="en-US" altLang="en-US" sz="2800" dirty="0">
                <a:solidFill>
                  <a:schemeClr val="bg1"/>
                </a:solidFill>
                <a:latin typeface="Palatino Linotype" panose="02040502050505030304" pitchFamily="18" charset="0"/>
              </a:rPr>
              <a:t>No substance can </a:t>
            </a:r>
            <a:r>
              <a:rPr lang="en-US" altLang="en-US" sz="2800" i="1" dirty="0">
                <a:solidFill>
                  <a:schemeClr val="bg1"/>
                </a:solidFill>
                <a:latin typeface="Palatino Linotype" panose="02040502050505030304" pitchFamily="18" charset="0"/>
              </a:rPr>
              <a:t>causally</a:t>
            </a:r>
            <a:r>
              <a:rPr lang="en-US" altLang="en-US" sz="2800" dirty="0">
                <a:solidFill>
                  <a:schemeClr val="bg1"/>
                </a:solidFill>
                <a:latin typeface="Palatino Linotype" panose="02040502050505030304" pitchFamily="18" charset="0"/>
              </a:rPr>
              <a:t> depend on any other substance! [nor </a:t>
            </a:r>
            <a:r>
              <a:rPr lang="en-US" altLang="en-US" sz="2800" i="1" dirty="0">
                <a:solidFill>
                  <a:schemeClr val="bg1"/>
                </a:solidFill>
                <a:latin typeface="Palatino Linotype" panose="02040502050505030304" pitchFamily="18" charset="0"/>
              </a:rPr>
              <a:t>ontologically</a:t>
            </a:r>
            <a:r>
              <a:rPr lang="en-US" altLang="en-US" sz="2800" dirty="0">
                <a:solidFill>
                  <a:schemeClr val="bg1"/>
                </a:solidFill>
                <a:latin typeface="Palatino Linotype" panose="02040502050505030304" pitchFamily="18" charset="0"/>
              </a:rPr>
              <a:t>, nor </a:t>
            </a:r>
            <a:r>
              <a:rPr lang="en-US" altLang="en-US" sz="2800" i="1" dirty="0">
                <a:solidFill>
                  <a:schemeClr val="bg1"/>
                </a:solidFill>
                <a:latin typeface="Palatino Linotype" panose="02040502050505030304" pitchFamily="18" charset="0"/>
              </a:rPr>
              <a:t>conceptually</a:t>
            </a:r>
            <a:r>
              <a:rPr lang="en-US" altLang="en-US" sz="28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154930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1p7: A substance must exist</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by its very essence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Just like Descartes’ God: it belongs to its very essence that it must exist. (Fifth Meditation)</a:t>
            </a:r>
          </a:p>
          <a:p>
            <a:pPr eaLnBrk="1" hangingPunct="1">
              <a:lnSpc>
                <a:spcPct val="90000"/>
              </a:lnSpc>
            </a:pPr>
            <a:r>
              <a:rPr lang="en-US" altLang="en-US" sz="2800" dirty="0">
                <a:solidFill>
                  <a:schemeClr val="bg1"/>
                </a:solidFill>
                <a:latin typeface="Palatino Linotype" panose="02040502050505030304" pitchFamily="18" charset="0"/>
              </a:rPr>
              <a:t>After all, it’s impossible for a substance to causally depend on any other substance.</a:t>
            </a:r>
          </a:p>
          <a:p>
            <a:pPr eaLnBrk="1" hangingPunct="1">
              <a:lnSpc>
                <a:spcPct val="90000"/>
              </a:lnSpc>
            </a:pPr>
            <a:r>
              <a:rPr lang="en-US" altLang="en-US" sz="2800" dirty="0">
                <a:solidFill>
                  <a:schemeClr val="bg1"/>
                </a:solidFill>
                <a:latin typeface="Palatino Linotype" panose="02040502050505030304" pitchFamily="18" charset="0"/>
              </a:rPr>
              <a:t>So it must be self-caused.</a:t>
            </a:r>
          </a:p>
          <a:p>
            <a:pPr eaLnBrk="1" hangingPunct="1">
              <a:lnSpc>
                <a:spcPct val="90000"/>
              </a:lnSpc>
            </a:pPr>
            <a:r>
              <a:rPr lang="en-US" altLang="en-US" sz="2800" dirty="0">
                <a:solidFill>
                  <a:schemeClr val="bg1"/>
                </a:solidFill>
                <a:latin typeface="Palatino Linotype" panose="02040502050505030304" pitchFamily="18" charset="0"/>
              </a:rPr>
              <a:t>In other words (D1), its essence involves existence.</a:t>
            </a:r>
          </a:p>
        </p:txBody>
      </p:sp>
    </p:spTree>
    <p:extLst>
      <p:ext uri="{BB962C8B-B14F-4D97-AF65-F5344CB8AC3E}">
        <p14:creationId xmlns:p14="http://schemas.microsoft.com/office/powerpoint/2010/main" val="405137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1p8: A substance must be</a:t>
            </a:r>
            <a:br>
              <a:rPr lang="en-US" altLang="en-US" sz="3500" dirty="0">
                <a:solidFill>
                  <a:schemeClr val="bg1"/>
                </a:solidFill>
                <a:latin typeface="Palatino Linotype" panose="02040502050505030304" pitchFamily="18" charset="0"/>
              </a:rPr>
            </a:br>
            <a:r>
              <a:rPr lang="en-US" altLang="en-US" sz="3500" i="1" dirty="0">
                <a:solidFill>
                  <a:schemeClr val="bg1"/>
                </a:solidFill>
                <a:latin typeface="Palatino Linotype" panose="02040502050505030304" pitchFamily="18" charset="0"/>
              </a:rPr>
              <a:t>infinite in its own kind</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90000"/>
              </a:lnSpc>
            </a:pPr>
            <a:r>
              <a:rPr lang="en-US" altLang="en-US" sz="2800" dirty="0">
                <a:solidFill>
                  <a:schemeClr val="bg1"/>
                </a:solidFill>
                <a:latin typeface="Palatino Linotype" panose="02040502050505030304" pitchFamily="18" charset="0"/>
              </a:rPr>
              <a:t>To be finite, a substance would have to be limited by another substance of its own kind.</a:t>
            </a:r>
          </a:p>
          <a:p>
            <a:pPr lvl="1" eaLnBrk="1" hangingPunct="1">
              <a:lnSpc>
                <a:spcPct val="90000"/>
              </a:lnSpc>
            </a:pPr>
            <a:r>
              <a:rPr lang="en-US" altLang="en-US" sz="2400" dirty="0">
                <a:solidFill>
                  <a:schemeClr val="bg1"/>
                </a:solidFill>
                <a:latin typeface="Palatino Linotype" panose="02040502050505030304" pitchFamily="18" charset="0"/>
              </a:rPr>
              <a:t>e.g., a finite body is limited by some other body</a:t>
            </a:r>
          </a:p>
          <a:p>
            <a:pPr eaLnBrk="1" hangingPunct="1">
              <a:lnSpc>
                <a:spcPct val="90000"/>
              </a:lnSpc>
            </a:pPr>
            <a:r>
              <a:rPr lang="en-US" altLang="en-US" sz="2800" dirty="0">
                <a:solidFill>
                  <a:schemeClr val="bg1"/>
                </a:solidFill>
                <a:latin typeface="Palatino Linotype" panose="02040502050505030304" pitchFamily="18" charset="0"/>
              </a:rPr>
              <a:t>But it’s impossible for there to be more than one substance of a given kind.</a:t>
            </a:r>
          </a:p>
          <a:p>
            <a:pPr eaLnBrk="1" hangingPunct="1">
              <a:lnSpc>
                <a:spcPct val="90000"/>
              </a:lnSpc>
            </a:pPr>
            <a:r>
              <a:rPr lang="en-US" altLang="en-US" sz="2800" dirty="0">
                <a:solidFill>
                  <a:schemeClr val="bg1"/>
                </a:solidFill>
                <a:latin typeface="Palatino Linotype" panose="02040502050505030304" pitchFamily="18" charset="0"/>
              </a:rPr>
              <a:t>So a substance of an attribute is the one and only substance of that attribute.</a:t>
            </a:r>
          </a:p>
          <a:p>
            <a:pPr lvl="1" eaLnBrk="1" hangingPunct="1">
              <a:lnSpc>
                <a:spcPct val="90000"/>
              </a:lnSpc>
            </a:pPr>
            <a:r>
              <a:rPr lang="en-US" altLang="en-US" sz="2400" dirty="0">
                <a:solidFill>
                  <a:schemeClr val="bg1"/>
                </a:solidFill>
                <a:latin typeface="Palatino Linotype" panose="02040502050505030304" pitchFamily="18" charset="0"/>
              </a:rPr>
              <a:t>e.g., a corporeal substance is the one and only corporeal substance—</a:t>
            </a:r>
            <a:r>
              <a:rPr lang="en-US" altLang="en-US" sz="2400" i="1" dirty="0">
                <a:solidFill>
                  <a:schemeClr val="bg1"/>
                </a:solidFill>
                <a:latin typeface="Palatino Linotype" panose="02040502050505030304" pitchFamily="18" charset="0"/>
              </a:rPr>
              <a:t>infinite in its own kind</a:t>
            </a:r>
          </a:p>
          <a:p>
            <a:pPr lvl="1" eaLnBrk="1" hangingPunct="1">
              <a:lnSpc>
                <a:spcPct val="90000"/>
              </a:lnSpc>
            </a:pPr>
            <a:r>
              <a:rPr lang="en-US" altLang="en-US" sz="2400" dirty="0">
                <a:solidFill>
                  <a:schemeClr val="bg1"/>
                </a:solidFill>
                <a:latin typeface="Palatino Linotype" panose="02040502050505030304" pitchFamily="18" charset="0"/>
              </a:rPr>
              <a:t>After all, it is of the very essence of a substance to exist, and no essence tells us </a:t>
            </a:r>
            <a:r>
              <a:rPr lang="en-US" altLang="en-US" sz="2400" i="1" dirty="0">
                <a:solidFill>
                  <a:schemeClr val="bg1"/>
                </a:solidFill>
                <a:latin typeface="Palatino Linotype" panose="02040502050505030304" pitchFamily="18" charset="0"/>
              </a:rPr>
              <a:t>how many</a:t>
            </a:r>
            <a:r>
              <a:rPr lang="en-US" altLang="en-US" sz="2400" dirty="0">
                <a:solidFill>
                  <a:schemeClr val="bg1"/>
                </a:solidFill>
                <a:latin typeface="Palatino Linotype" panose="02040502050505030304" pitchFamily="18" charset="0"/>
              </a:rPr>
              <a:t> exist.</a:t>
            </a:r>
          </a:p>
        </p:txBody>
      </p:sp>
    </p:spTree>
    <p:extLst>
      <p:ext uri="{BB962C8B-B14F-4D97-AF65-F5344CB8AC3E}">
        <p14:creationId xmlns:p14="http://schemas.microsoft.com/office/powerpoint/2010/main" val="344958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98438"/>
            <a:ext cx="8229600" cy="715962"/>
          </a:xfrm>
        </p:spPr>
        <p:txBody>
          <a:bodyPr/>
          <a:lstStyle/>
          <a:p>
            <a:pPr eaLnBrk="1" hangingPunct="1"/>
            <a:r>
              <a:rPr lang="en-US" altLang="en-US" sz="3500" dirty="0">
                <a:solidFill>
                  <a:schemeClr val="bg1"/>
                </a:solidFill>
                <a:latin typeface="Palatino Linotype" panose="02040502050505030304" pitchFamily="18" charset="0"/>
              </a:rPr>
              <a:t>1p9: More reality means more attributes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90601"/>
            <a:ext cx="8229600" cy="1371599"/>
          </a:xfrm>
        </p:spPr>
        <p:txBody>
          <a:bodyPr/>
          <a:lstStyle/>
          <a:p>
            <a:pPr eaLnBrk="1" hangingPunct="1">
              <a:lnSpc>
                <a:spcPct val="90000"/>
              </a:lnSpc>
            </a:pPr>
            <a:r>
              <a:rPr lang="en-US" altLang="en-US" sz="2700" dirty="0">
                <a:solidFill>
                  <a:schemeClr val="bg1"/>
                </a:solidFill>
                <a:latin typeface="Palatino Linotype" panose="02040502050505030304" pitchFamily="18" charset="0"/>
              </a:rPr>
              <a:t>Attributes constitute the essence of a substance.</a:t>
            </a:r>
          </a:p>
          <a:p>
            <a:pPr eaLnBrk="1" hangingPunct="1">
              <a:lnSpc>
                <a:spcPct val="90000"/>
              </a:lnSpc>
            </a:pPr>
            <a:r>
              <a:rPr lang="en-US" altLang="en-US" sz="2700" dirty="0">
                <a:solidFill>
                  <a:schemeClr val="bg1"/>
                </a:solidFill>
                <a:latin typeface="Palatino Linotype" panose="02040502050505030304" pitchFamily="18" charset="0"/>
              </a:rPr>
              <a:t>So the more reality/being/perfection there is to the essence of something, the more attributes it has.</a:t>
            </a:r>
          </a:p>
        </p:txBody>
      </p:sp>
      <p:sp>
        <p:nvSpPr>
          <p:cNvPr id="4" name="Rectangle 2">
            <a:extLst>
              <a:ext uri="{FF2B5EF4-FFF2-40B4-BE49-F238E27FC236}">
                <a16:creationId xmlns:a16="http://schemas.microsoft.com/office/drawing/2014/main" id="{5601D814-C128-4EFC-B1A8-3FA515B0B515}"/>
              </a:ext>
            </a:extLst>
          </p:cNvPr>
          <p:cNvSpPr txBox="1">
            <a:spLocks noChangeArrowheads="1"/>
          </p:cNvSpPr>
          <p:nvPr/>
        </p:nvSpPr>
        <p:spPr bwMode="auto">
          <a:xfrm>
            <a:off x="457200" y="2560638"/>
            <a:ext cx="8229600"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lnSpc>
                <a:spcPct val="90000"/>
              </a:lnSpc>
            </a:pPr>
            <a:r>
              <a:rPr lang="en-US" altLang="en-US" sz="3200" spc="-100" dirty="0">
                <a:solidFill>
                  <a:schemeClr val="bg1"/>
                </a:solidFill>
                <a:latin typeface="Palatino Linotype" panose="02040502050505030304" pitchFamily="18" charset="0"/>
              </a:rPr>
              <a:t>1p10: Each attribute is conceived through itself</a:t>
            </a:r>
            <a:endParaRPr lang="en-US" altLang="en-US" sz="3200" i="1" spc="-100" dirty="0">
              <a:solidFill>
                <a:schemeClr val="bg1"/>
              </a:solidFill>
              <a:latin typeface="Palatino Linotype" panose="02040502050505030304" pitchFamily="18" charset="0"/>
            </a:endParaRPr>
          </a:p>
        </p:txBody>
      </p:sp>
      <p:sp>
        <p:nvSpPr>
          <p:cNvPr id="5" name="Rectangle 3">
            <a:extLst>
              <a:ext uri="{FF2B5EF4-FFF2-40B4-BE49-F238E27FC236}">
                <a16:creationId xmlns:a16="http://schemas.microsoft.com/office/drawing/2014/main" id="{320DB9DF-A93F-416F-8B47-41094576DDDA}"/>
              </a:ext>
            </a:extLst>
          </p:cNvPr>
          <p:cNvSpPr txBox="1">
            <a:spLocks noChangeArrowheads="1"/>
          </p:cNvSpPr>
          <p:nvPr/>
        </p:nvSpPr>
        <p:spPr bwMode="auto">
          <a:xfrm>
            <a:off x="457200" y="3763962"/>
            <a:ext cx="8229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pPr>
            <a:r>
              <a:rPr lang="en-US" altLang="en-US" sz="2700" dirty="0">
                <a:solidFill>
                  <a:schemeClr val="bg1"/>
                </a:solidFill>
                <a:latin typeface="Palatino Linotype" panose="02040502050505030304" pitchFamily="18" charset="0"/>
              </a:rPr>
              <a:t>Just like substances! Conceptual isolation.</a:t>
            </a:r>
          </a:p>
          <a:p>
            <a:pPr eaLnBrk="1" hangingPunct="1">
              <a:lnSpc>
                <a:spcPct val="90000"/>
              </a:lnSpc>
            </a:pPr>
            <a:r>
              <a:rPr lang="en-US" altLang="en-US" sz="2700" dirty="0">
                <a:solidFill>
                  <a:schemeClr val="bg1"/>
                </a:solidFill>
                <a:latin typeface="Palatino Linotype" panose="02040502050505030304" pitchFamily="18" charset="0"/>
              </a:rPr>
              <a:t>So we can’t use one attribute to rule out another attribute—that crosses the conceptual barrier.</a:t>
            </a:r>
          </a:p>
          <a:p>
            <a:pPr eaLnBrk="1" hangingPunct="1">
              <a:lnSpc>
                <a:spcPct val="90000"/>
              </a:lnSpc>
            </a:pPr>
            <a:r>
              <a:rPr lang="en-US" altLang="en-US" sz="2700" dirty="0">
                <a:solidFill>
                  <a:schemeClr val="bg1"/>
                </a:solidFill>
                <a:latin typeface="Palatino Linotype" panose="02040502050505030304" pitchFamily="18" charset="0"/>
              </a:rPr>
              <a:t>“</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has the attribute </a:t>
            </a:r>
            <a:r>
              <a:rPr lang="en-US" altLang="en-US" sz="2200" spc="100" dirty="0">
                <a:solidFill>
                  <a:schemeClr val="bg1"/>
                </a:solidFill>
                <a:latin typeface="Palatino Linotype" panose="02040502050505030304" pitchFamily="18" charset="0"/>
              </a:rPr>
              <a:t>THOUGHT</a:t>
            </a:r>
            <a:r>
              <a:rPr lang="en-US" altLang="en-US" sz="2700" dirty="0">
                <a:solidFill>
                  <a:schemeClr val="bg1"/>
                </a:solidFill>
                <a:latin typeface="Palatino Linotype" panose="02040502050505030304" pitchFamily="18" charset="0"/>
              </a:rPr>
              <a:t>, so </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cannot have </a:t>
            </a:r>
            <a:r>
              <a:rPr lang="en-US" altLang="en-US" sz="2700" spc="-60" dirty="0">
                <a:solidFill>
                  <a:schemeClr val="bg1"/>
                </a:solidFill>
                <a:latin typeface="Palatino Linotype" panose="02040502050505030304" pitchFamily="18" charset="0"/>
              </a:rPr>
              <a:t>the attribute </a:t>
            </a:r>
            <a:r>
              <a:rPr lang="en-US" altLang="en-US" sz="2200" spc="100" dirty="0">
                <a:solidFill>
                  <a:schemeClr val="bg1"/>
                </a:solidFill>
                <a:latin typeface="Palatino Linotype" panose="02040502050505030304" pitchFamily="18" charset="0"/>
              </a:rPr>
              <a:t>EXTENSION</a:t>
            </a:r>
            <a:r>
              <a:rPr lang="en-US" altLang="en-US" sz="2700" dirty="0">
                <a:solidFill>
                  <a:schemeClr val="bg1"/>
                </a:solidFill>
                <a:latin typeface="Palatino Linotype" panose="02040502050505030304" pitchFamily="18" charset="0"/>
              </a:rPr>
              <a:t>”? </a:t>
            </a:r>
            <a:r>
              <a:rPr lang="en-US" altLang="en-US" sz="2700" spc="-60" dirty="0">
                <a:solidFill>
                  <a:schemeClr val="bg1"/>
                </a:solidFill>
                <a:latin typeface="Palatino Linotype" panose="02040502050505030304" pitchFamily="18" charset="0"/>
              </a:rPr>
              <a:t>This thinking is no good.</a:t>
            </a:r>
          </a:p>
          <a:p>
            <a:pPr eaLnBrk="1" hangingPunct="1">
              <a:lnSpc>
                <a:spcPct val="90000"/>
              </a:lnSpc>
            </a:pPr>
            <a:r>
              <a:rPr lang="en-US" altLang="en-US" sz="2700" spc="-60" dirty="0">
                <a:solidFill>
                  <a:schemeClr val="bg1"/>
                </a:solidFill>
                <a:latin typeface="Palatino Linotype" panose="02040502050505030304" pitchFamily="18" charset="0"/>
              </a:rPr>
              <a:t>A substance can have many different attributes.</a:t>
            </a:r>
          </a:p>
        </p:txBody>
      </p:sp>
    </p:spTree>
    <p:extLst>
      <p:ext uri="{BB962C8B-B14F-4D97-AF65-F5344CB8AC3E}">
        <p14:creationId xmlns:p14="http://schemas.microsoft.com/office/powerpoint/2010/main" val="15209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1" grpId="0" uiExpand="1" build="p"/>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1p11: An </a:t>
            </a:r>
            <a:r>
              <a:rPr lang="en-US" altLang="en-US" sz="3500" i="1" dirty="0">
                <a:solidFill>
                  <a:schemeClr val="bg1"/>
                </a:solidFill>
                <a:latin typeface="Palatino Linotype" panose="02040502050505030304" pitchFamily="18" charset="0"/>
              </a:rPr>
              <a:t>absolutely infinite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substance (God) exists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Not just infinite in its kind, but absolutely infinite</a:t>
            </a:r>
            <a:r>
              <a:rPr lang="en-US" altLang="en-US" sz="28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This substance possesses infinitely many attributes, each attribute expressing eternal and infinite essence.</a:t>
            </a:r>
          </a:p>
          <a:p>
            <a:pPr eaLnBrk="1" hangingPunct="1">
              <a:lnSpc>
                <a:spcPct val="88000"/>
              </a:lnSpc>
            </a:pPr>
            <a:r>
              <a:rPr lang="en-US" altLang="en-US" sz="2800" dirty="0">
                <a:solidFill>
                  <a:schemeClr val="bg1"/>
                </a:solidFill>
                <a:latin typeface="Palatino Linotype" panose="02040502050505030304" pitchFamily="18" charset="0"/>
              </a:rPr>
              <a:t>Ontological argument: such a substance must exist, because its essence involves existence.</a:t>
            </a:r>
          </a:p>
          <a:p>
            <a:pPr eaLnBrk="1" hangingPunct="1">
              <a:lnSpc>
                <a:spcPct val="88000"/>
              </a:lnSpc>
            </a:pPr>
            <a:r>
              <a:rPr lang="en-US" altLang="en-US" sz="2800" dirty="0">
                <a:solidFill>
                  <a:schemeClr val="bg1"/>
                </a:solidFill>
                <a:latin typeface="Palatino Linotype" panose="02040502050505030304" pitchFamily="18" charset="0"/>
              </a:rPr>
              <a:t>Argument #2: God’s nonexistence couldn’t be due to something external (no substances are causally related) or internal (God’s nature has no contradiction).</a:t>
            </a:r>
          </a:p>
          <a:p>
            <a:pPr eaLnBrk="1" hangingPunct="1">
              <a:lnSpc>
                <a:spcPct val="88000"/>
              </a:lnSpc>
            </a:pPr>
            <a:r>
              <a:rPr lang="en-US" altLang="en-US" sz="2800" dirty="0">
                <a:solidFill>
                  <a:schemeClr val="bg1"/>
                </a:solidFill>
                <a:latin typeface="Palatino Linotype" panose="02040502050505030304" pitchFamily="18" charset="0"/>
              </a:rPr>
              <a:t>Argument #3: If only finite beings exist, then they are more powerful than an infinite being, which is absurd.</a:t>
            </a:r>
          </a:p>
        </p:txBody>
      </p:sp>
    </p:spTree>
    <p:extLst>
      <p:ext uri="{BB962C8B-B14F-4D97-AF65-F5344CB8AC3E}">
        <p14:creationId xmlns:p14="http://schemas.microsoft.com/office/powerpoint/2010/main" val="4274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9C6F177B-EF23-4BDA-8B59-0CCA3F03AA1B}"/>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358801938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3255</TotalTime>
  <Words>4361</Words>
  <Application>Microsoft Office PowerPoint</Application>
  <PresentationFormat>On-screen Show (4:3)</PresentationFormat>
  <Paragraphs>282</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Palatino Linotype</vt:lpstr>
      <vt:lpstr>Default Design</vt:lpstr>
      <vt:lpstr>Three kinds of dependence</vt:lpstr>
      <vt:lpstr>PowerPoint Presentation</vt:lpstr>
      <vt:lpstr>E1p1: substance prior to modes</vt:lpstr>
      <vt:lpstr>E1p2: substances differing by attribute have nothing in common</vt:lpstr>
      <vt:lpstr>PowerPoint Presentation</vt:lpstr>
      <vt:lpstr>E1p3: cause and effect must have something in common</vt:lpstr>
      <vt:lpstr>PowerPoint Presentation</vt:lpstr>
      <vt:lpstr>PowerPoint Presentation</vt:lpstr>
      <vt:lpstr>E1p4: distinctness is due to differing attributes or differing modes</vt:lpstr>
      <vt:lpstr>PowerPoint Presentation</vt:lpstr>
      <vt:lpstr>PowerPoint Presentation</vt:lpstr>
      <vt:lpstr>E1p5: only one substance per attribute</vt:lpstr>
      <vt:lpstr>PowerPoint Presentation</vt:lpstr>
      <vt:lpstr>PowerPoint Presentation</vt:lpstr>
      <vt:lpstr>E1p6: impossible for one substance to produce [cause] another</vt:lpstr>
      <vt:lpstr>E1p6c: impossible for a substance to be produced by any external cause</vt:lpstr>
      <vt:lpstr>PowerPoint Presentation</vt:lpstr>
      <vt:lpstr>PowerPoint Presentation</vt:lpstr>
      <vt:lpstr>E1p7: substance has existence belonging to its nature</vt:lpstr>
      <vt:lpstr>PowerPoint Presentation</vt:lpstr>
      <vt:lpstr>E1p8: substance must be infinite</vt:lpstr>
      <vt:lpstr>PowerPoint Presentation</vt:lpstr>
      <vt:lpstr>1p9: More reality means more attributes</vt:lpstr>
      <vt:lpstr>1p11: An absolutely infinite substance (God) exists</vt:lpstr>
      <vt:lpstr>1p12: A substance is indivisible</vt:lpstr>
      <vt:lpstr>1p13: An absolutely infinite substance is indivisible</vt:lpstr>
      <vt:lpstr>1p14: God is the only possible/conceivable substance</vt:lpstr>
      <vt:lpstr>1p15: Everything else is a mode of God</vt:lpstr>
      <vt:lpstr>1p16: Infinity follows from God</vt:lpstr>
      <vt:lpstr>1p17: God acts uncompelled, by the laws of the divine nature</vt:lpstr>
      <vt:lpstr>Additional points in Part I</vt:lpstr>
      <vt:lpstr>Additional points in Part I’s Appendix</vt:lpstr>
      <vt:lpstr>Additional points in Part I’s Appendix</vt:lpstr>
      <vt:lpstr>Additional points in Part I’s Appendix</vt:lpstr>
      <vt:lpstr>Part II: The Human Mind</vt:lpstr>
      <vt:lpstr>Part II: The Human Mind</vt:lpstr>
      <vt:lpstr>Part III: The Affects</vt:lpstr>
      <vt:lpstr>PowerPoint Presentation</vt:lpstr>
      <vt:lpstr>Three kinds of dependence</vt:lpstr>
      <vt:lpstr>1p1: Substance prior to modes</vt:lpstr>
      <vt:lpstr>1p2: Different-attribute substances have nothing in common</vt:lpstr>
      <vt:lpstr>1p3: Cause and effect must have something in common</vt:lpstr>
      <vt:lpstr>1p4: Distinctness is due to differing attributes or differing modes</vt:lpstr>
      <vt:lpstr>1p5: Impossible to have two substances alike in attribute differing only in modes</vt:lpstr>
      <vt:lpstr>1p6: Impossible for two substances to be causally related</vt:lpstr>
      <vt:lpstr>1p7: A substance must exist by its very essence</vt:lpstr>
      <vt:lpstr>1p8: A substance must be infinite in its own kind</vt:lpstr>
      <vt:lpstr>1p9: More reality means more attributes</vt:lpstr>
      <vt:lpstr>1p11: An absolutely infinite substance (God) exists</vt:lpstr>
      <vt:lpstr>PowerPoint Presentation</vt:lpstr>
    </vt:vector>
  </TitlesOfParts>
  <Company>University of Arizona Philosophy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fdsdffds</dc:title>
  <dc:creator>Cole Mitchell</dc:creator>
  <cp:lastModifiedBy>XYZ</cp:lastModifiedBy>
  <cp:revision>314</cp:revision>
  <dcterms:created xsi:type="dcterms:W3CDTF">2006-08-23T23:46:24Z</dcterms:created>
  <dcterms:modified xsi:type="dcterms:W3CDTF">2026-02-23T13:56:22Z</dcterms:modified>
</cp:coreProperties>
</file>