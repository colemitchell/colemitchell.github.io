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446" r:id="rId2"/>
    <p:sldId id="506" r:id="rId3"/>
    <p:sldId id="507" r:id="rId4"/>
    <p:sldId id="508" r:id="rId5"/>
  </p:sldIdLst>
  <p:sldSz cx="9144000" cy="6858000" type="screen4x3"/>
  <p:notesSz cx="9601200" cy="7315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308F"/>
    <a:srgbClr val="4C4CC4"/>
    <a:srgbClr val="1F5C00"/>
    <a:srgbClr val="131313"/>
    <a:srgbClr val="1F1F1F"/>
    <a:srgbClr val="F9C999"/>
    <a:srgbClr val="F6AD64"/>
    <a:srgbClr val="FFFF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912" autoAdjust="0"/>
    <p:restoredTop sz="94291" autoAdjust="0"/>
  </p:normalViewPr>
  <p:slideViewPr>
    <p:cSldViewPr>
      <p:cViewPr varScale="1">
        <p:scale>
          <a:sx n="89" d="100"/>
          <a:sy n="89" d="100"/>
        </p:scale>
        <p:origin x="691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201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937" cy="36648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180" y="0"/>
            <a:ext cx="4160937" cy="36648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7698D5-EB83-4786-BE60-D7A65B435150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154363" y="914400"/>
            <a:ext cx="3292475" cy="24685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538" y="3520924"/>
            <a:ext cx="7680127" cy="287987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715"/>
            <a:ext cx="4160937" cy="36648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180" y="6948715"/>
            <a:ext cx="4160937" cy="36648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01AE79-56A4-4DA4-BED7-EDC6E1E55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701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F0889-07F8-4A0A-A43F-8FDB33CBAB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3574A8-0A81-4C0E-9D4E-1A93CA4AB3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837E784-4E6D-4D1C-93FE-D439E40C63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3BF5C5B-DA94-4E21-BE4D-6A93437DC3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2BDA3C1-AAAD-4A9A-9052-230D8740DF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FD25E7-7642-491D-B10C-A167CC4A45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7226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203DC-17ED-4E5A-8A61-DB6F2ABFE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33207-D438-43CB-B8F3-19BB72A7B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6C4CAA1-A0E1-4FF8-A357-234578A27F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2BDAF42-A50C-4E7F-A2C7-4524FA978D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98575B9-DC9C-4117-B5EB-51F1D3102A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0165A0-5883-4B82-9664-F1C0907D93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7575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CF06F-55D8-4A3F-BA3F-AACF8A1F4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84719-8556-468A-BEC7-2D94899D4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AE0A477-E8DC-4D7C-ACBF-C8EE0F2814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5EF5D03-5EC3-4531-9461-937F1D0097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A042059-B97A-47AB-A506-D9CF506380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44D782-CE52-41AF-AB61-5F64E272BCB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8437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28314-DE52-4D42-BBB8-72393110A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4C294-EAED-4D8C-A98A-12DE367461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FB16CB-F7D5-43E9-A638-15E7B08406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B11577-CA7B-4F8F-9251-F61C4CC6F3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445D0F-7A10-40B0-AFEB-3D2DD669AA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472AE6-0BC6-4325-8566-A4F23372FC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0B6F5E-936F-4950-B0DE-385368D2E8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4362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CEC12-4C53-4312-B7CA-1A9EE11B9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C1EDE-53FF-43A9-83EB-A81168271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CCC34-9E30-4DA0-A407-8BAEB4A372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18914C-D3FB-4A74-B9E0-EF724BE934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A70E08-DCBA-43D4-9139-0FB243ECFF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468C0A0-95E7-4B31-B7FE-DBFA06B490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345E374-545E-4D0F-800D-478FDB04C0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CA00144-135A-4EA0-92F4-2CFAA67B6F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CAF4C1-A6D7-434A-85FC-A3336F8E7B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663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8A690-CA6A-4937-9649-A8853F0C5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B36BF89-71B5-4510-85D9-E2FD9E4362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E02863B-C9A2-4F5C-9B96-400FAADB06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A720282-7345-45B1-A585-897F3C51BF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963534-CA4B-4EAF-9C7A-C48A2DF6EF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0108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19CD24F-2F71-4FE4-BB44-B87A9E02A2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3797EBB-B8B2-4177-B8AA-29369C58C2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F4B728C-763A-41C8-9D0C-93A52439C0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1249CC-80B1-4BFA-AD71-3A3C406E9C6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5306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B0BE-FFD2-41DD-940B-DB4B19B71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2202C-31D9-4A31-B478-D0BEEC85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4B7D2D-30CB-423D-ADBE-66B78BE5C7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8CE67D-281B-4BFD-A71D-246BE063AA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F23615-4C24-4991-B309-AB346CE208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C9E16D-28E9-4A60-B0A0-0E8C39F1D1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FFE348-B3A4-412D-A1C9-C4B27D546F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1987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90BFD-B4F5-4760-9D41-9FFE55F91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0ABDFC-1555-467A-847F-A789AF3C9B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E1945C-E6B6-4DF4-B560-D0816148F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01531-E7F0-413A-883F-55F64925F6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35A85B-5950-4AC0-8CDA-84884AC4D7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A20D2D-FF7E-44B9-81EF-4B878F93C4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966010-9C90-4F74-81E7-FAA5505E49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1736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A9406-C356-4484-9F1E-60323065F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21F55E-0DE1-4AFF-930A-C804621141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41FFCE2-B6F3-47AD-9C97-8517C6A601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C85FC68-8CD3-449F-BE0E-7E7F769D1E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FC2BBDC-7E6C-4835-843B-7A1101EFC1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D4AC30-21CB-47F0-BC13-72C0477CC5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585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C06947-E868-4860-AEB3-35C235273E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99817C-3616-4649-9C4F-87EFFE63B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9FDCE0B-0E40-4AF7-88C8-DF4349C26F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63E76B0-EFAF-4487-8B42-B04A651F92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0B9707E-891F-46B9-B83F-F3E092DF69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12229-CCAB-42C2-8DB9-B18E9319B73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3246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accent2"/>
            </a:gs>
            <a:gs pos="100000">
              <a:srgbClr val="18184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7F21F7C-D99F-47B9-AEAF-5313669E93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B82F917-E9AB-4D01-A674-6454B77D33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458B7CF-C253-45BE-8F3F-D00174A8E3B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62CCB12-DB77-46EF-A142-E0FDF7C5FC5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DF35B57-97B7-44E1-A529-4638187DB3C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BDF05E1C-88FE-4BB3-AF67-79AFE5E728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8AA7C63-4F8A-400A-9D78-E8FF37FA5A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-30162"/>
            <a:ext cx="8229600" cy="868362"/>
          </a:xfrm>
        </p:spPr>
        <p:txBody>
          <a:bodyPr/>
          <a:lstStyle/>
          <a:p>
            <a:pPr eaLnBrk="1" hangingPunct="1">
              <a:lnSpc>
                <a:spcPct val="83000"/>
              </a:lnSpc>
            </a:pPr>
            <a:r>
              <a:rPr lang="en-US" altLang="en-US" sz="3200" dirty="0">
                <a:solidFill>
                  <a:schemeClr val="bg1"/>
                </a:solidFill>
                <a:latin typeface="Palatino Linotype" panose="02040502050505030304" pitchFamily="18" charset="0"/>
              </a:rPr>
              <a:t>What is Locke’s nativist target?</a:t>
            </a:r>
            <a:endParaRPr lang="en-US" altLang="en-US" sz="3200" i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715B746-FEE7-4C64-9A3E-6E7375137B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685800"/>
            <a:ext cx="8686800" cy="4648200"/>
          </a:xfrm>
        </p:spPr>
        <p:txBody>
          <a:bodyPr/>
          <a:lstStyle/>
          <a:p>
            <a:pPr marL="182880" lvl="1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Innate knowledge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innate </a:t>
            </a: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principles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e.g.:</a:t>
            </a:r>
          </a:p>
          <a:p>
            <a:pPr marL="731520" lvl="3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1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Whatsoever is, is</a:t>
            </a:r>
            <a:r>
              <a:rPr lang="en-US" altLang="en-US" sz="21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(Principle of Identity/Equality)</a:t>
            </a:r>
          </a:p>
          <a:p>
            <a:pPr marL="731520" lvl="3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1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’Tis impossible for the same thing to be, and not to be</a:t>
            </a:r>
            <a:r>
              <a:rPr lang="en-US" altLang="en-US" sz="21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(Principle of Contradiction)</a:t>
            </a:r>
          </a:p>
          <a:p>
            <a:pPr marL="731520" lvl="3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1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aka</a:t>
            </a:r>
            <a:r>
              <a:rPr lang="en-US" altLang="en-US" sz="21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“</a:t>
            </a:r>
            <a:r>
              <a:rPr lang="en-US" altLang="en-US" sz="21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Maxims</a:t>
            </a:r>
            <a:r>
              <a:rPr lang="en-US" altLang="en-US" sz="21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altLang="en-US" sz="21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Axioms</a:t>
            </a:r>
            <a:r>
              <a:rPr lang="en-US" altLang="en-US" sz="21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  <a:endParaRPr lang="en-US" altLang="en-US" sz="2100" i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 principle made up of innate </a:t>
            </a: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ideas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e.g.:</a:t>
            </a:r>
          </a:p>
          <a:p>
            <a:pPr marL="731520" lvl="3" indent="-182880" ea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alibri" panose="020F0502020204030204" pitchFamily="34" charset="0"/>
              <a:buChar char="-"/>
            </a:pP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identity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impossibility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substance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part/whole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worship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God</a:t>
            </a:r>
          </a:p>
          <a:p>
            <a:pPr marL="182880" lvl="1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Location / source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pc="-3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“Originally by Nature Imprinted in the Mind in its first Constitution”</a:t>
            </a:r>
          </a:p>
          <a:p>
            <a:pPr marL="731520" lvl="3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1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the “Mind”, “Soul”, “Understanding”</a:t>
            </a:r>
          </a:p>
          <a:p>
            <a:pPr marL="731520" lvl="3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1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“Imprinted”, “written”, “(in)graven”, “stamped upon”</a:t>
            </a:r>
          </a:p>
          <a:p>
            <a:pPr marL="731520" lvl="3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1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“Inscriptions”, “Impressions”</a:t>
            </a:r>
          </a:p>
          <a:p>
            <a:pPr marL="731520" lvl="3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1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“Originally”, “Naturally”, “immediately”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“by the Hand of God”, “by the finger of God”, “by Nature”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endParaRPr lang="en-US" alt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509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8AA7C63-4F8A-400A-9D78-E8FF37FA5A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-30162"/>
            <a:ext cx="8229600" cy="868362"/>
          </a:xfrm>
        </p:spPr>
        <p:txBody>
          <a:bodyPr/>
          <a:lstStyle/>
          <a:p>
            <a:pPr eaLnBrk="1" hangingPunct="1">
              <a:lnSpc>
                <a:spcPct val="83000"/>
              </a:lnSpc>
            </a:pPr>
            <a:r>
              <a:rPr lang="en-US" altLang="en-US" sz="3200" dirty="0">
                <a:solidFill>
                  <a:schemeClr val="bg1"/>
                </a:solidFill>
                <a:latin typeface="Palatino Linotype" panose="02040502050505030304" pitchFamily="18" charset="0"/>
              </a:rPr>
              <a:t>What is Locke’s nativist target?</a:t>
            </a:r>
            <a:endParaRPr lang="en-US" altLang="en-US" sz="3200" i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715B746-FEE7-4C64-9A3E-6E7375137B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685800"/>
            <a:ext cx="8686800" cy="4648200"/>
          </a:xfrm>
        </p:spPr>
        <p:txBody>
          <a:bodyPr/>
          <a:lstStyle/>
          <a:p>
            <a:pPr marL="182880" lvl="1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Special foundational role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innate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principles/ideas vs. </a:t>
            </a: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acquired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principles/ideas</a:t>
            </a:r>
          </a:p>
          <a:p>
            <a:pPr marL="731520" lvl="3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spc="-3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acquired: some derived via </a:t>
            </a:r>
            <a:r>
              <a:rPr lang="en-US" altLang="en-US" sz="2300" i="1" spc="-3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reason</a:t>
            </a:r>
            <a:r>
              <a:rPr lang="en-US" altLang="en-US" sz="2300" spc="-3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others received from </a:t>
            </a:r>
            <a:r>
              <a:rPr lang="en-US" altLang="en-US" sz="2300" i="1" spc="-3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experience</a:t>
            </a:r>
          </a:p>
          <a:p>
            <a:pPr marL="731520" lvl="3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select few </a:t>
            </a: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foundational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prs./ids., source of many </a:t>
            </a: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derived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prs./ids.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self-evident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i.e., illegitimate to demand a supporting reason</a:t>
            </a:r>
          </a:p>
          <a:p>
            <a:pPr marL="914400" lvl="3" indent="-182880" ea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alibri" panose="020F0502020204030204" pitchFamily="34" charset="0"/>
              <a:buChar char="-"/>
            </a:pP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e.g., Principle of Identity/Equality, Principle of Contradiction</a:t>
            </a:r>
          </a:p>
          <a:p>
            <a:pPr marL="57150" lvl="1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Practical role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 pointless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given so we can do our duty, achieve happiness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i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earliest</a:t>
            </a:r>
            <a:r>
              <a:rPr lang="en-US" altLang="en-US" sz="23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in 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our minds before other knowledge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easy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don’t require pains to discover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clearest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we’re able to negotiate problem cases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transparent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we’re able to tell innate from acquired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actually perceived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we must either </a:t>
            </a: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actually perceive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them, or have them in memory from </a:t>
            </a: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having actually perceived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them in the past</a:t>
            </a:r>
          </a:p>
        </p:txBody>
      </p:sp>
    </p:spTree>
    <p:extLst>
      <p:ext uri="{BB962C8B-B14F-4D97-AF65-F5344CB8AC3E}">
        <p14:creationId xmlns:p14="http://schemas.microsoft.com/office/powerpoint/2010/main" val="4260558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8AA7C63-4F8A-400A-9D78-E8FF37FA5A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-30162"/>
            <a:ext cx="8229600" cy="868362"/>
          </a:xfrm>
        </p:spPr>
        <p:txBody>
          <a:bodyPr/>
          <a:lstStyle/>
          <a:p>
            <a:pPr eaLnBrk="1" hangingPunct="1">
              <a:lnSpc>
                <a:spcPct val="83000"/>
              </a:lnSpc>
            </a:pPr>
            <a:r>
              <a:rPr lang="en-US" altLang="en-US" sz="3200" dirty="0">
                <a:solidFill>
                  <a:schemeClr val="bg1"/>
                </a:solidFill>
                <a:latin typeface="Palatino Linotype" panose="02040502050505030304" pitchFamily="18" charset="0"/>
              </a:rPr>
              <a:t>What is Locke’s nativist target?</a:t>
            </a:r>
            <a:endParaRPr lang="en-US" altLang="en-US" sz="3200" i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715B746-FEE7-4C64-9A3E-6E7375137B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685800"/>
            <a:ext cx="8686800" cy="4648200"/>
          </a:xfrm>
        </p:spPr>
        <p:txBody>
          <a:bodyPr/>
          <a:lstStyle/>
          <a:p>
            <a:pPr marL="182880" lvl="1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Different accounts of nativism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different versions spell out innateness in different ways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Locke seems to take these ways of spelling out innateness as (proposed) </a:t>
            </a: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necessary and sufficient conditions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for innateness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his words, each gives a certain “Mark” or “Note” of innateness</a:t>
            </a:r>
          </a:p>
          <a:p>
            <a:pPr marL="182880" lvl="1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Examples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“universally agreed upon by all Mankind” – actually perceived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“universally agreed upon by all Mankind” – capable of being known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everyone agrees, upon “com[</a:t>
            </a:r>
            <a:r>
              <a:rPr lang="en-US" altLang="en-US" sz="23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] to the use of Reason” – means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everyone agrees, upon “com[</a:t>
            </a:r>
            <a:r>
              <a:rPr lang="en-US" altLang="en-US" sz="23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] to the use of Reason” – time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everyone agrees, “</a:t>
            </a: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 soon as proposed and understood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</a:p>
          <a:p>
            <a:pPr marL="57150" lvl="1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Challenges and </a:t>
            </a:r>
            <a:r>
              <a:rPr lang="en-US" altLang="en-US" sz="2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disproofs</a:t>
            </a:r>
            <a:endParaRPr lang="en-US" altLang="en-US" sz="27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Locke mounts different challenges to these different accounts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 also uses them to mount </a:t>
            </a:r>
            <a:r>
              <a:rPr lang="en-US" altLang="en-US" sz="23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disproofs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and adds two independent </a:t>
            </a:r>
            <a:r>
              <a:rPr lang="en-US" altLang="en-US" sz="23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disproofs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(1) not </a:t>
            </a: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earliest 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(§§25–26), (2) not </a:t>
            </a: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clearest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uneducated / inexperienced (§27)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endParaRPr lang="en-US" altLang="en-US" sz="23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961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8AA7C63-4F8A-400A-9D78-E8FF37FA5A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-30162"/>
            <a:ext cx="8229600" cy="868362"/>
          </a:xfrm>
        </p:spPr>
        <p:txBody>
          <a:bodyPr/>
          <a:lstStyle/>
          <a:p>
            <a:pPr eaLnBrk="1" hangingPunct="1">
              <a:lnSpc>
                <a:spcPct val="83000"/>
              </a:lnSpc>
            </a:pPr>
            <a:r>
              <a:rPr lang="en-US" altLang="en-US" sz="3200" dirty="0">
                <a:solidFill>
                  <a:schemeClr val="bg1"/>
                </a:solidFill>
                <a:latin typeface="Palatino Linotype" panose="02040502050505030304" pitchFamily="18" charset="0"/>
              </a:rPr>
              <a:t>What is Locke’s nativist target?</a:t>
            </a:r>
            <a:endParaRPr lang="en-US" altLang="en-US" sz="3200" i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715B746-FEE7-4C64-9A3E-6E7375137B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685800"/>
            <a:ext cx="8686800" cy="4648200"/>
          </a:xfrm>
        </p:spPr>
        <p:txBody>
          <a:bodyPr/>
          <a:lstStyle/>
          <a:p>
            <a:pPr marL="182880" lvl="1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Speculative vs. Practical (Book 1, Ch. 3)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speculative principles are used for Locke’s main critique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but he also argues that practical principles (e.g. moral rules) are never universally agreed upon</a:t>
            </a:r>
          </a:p>
          <a:p>
            <a:pPr marL="182880" lvl="1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Ideas (Book 1, Ch. 4)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impossibility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identity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not early enough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identity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not clear enough to handle problem cases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part/whole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depend on acquired ideas of extension and number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worship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not early enough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God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not enough consensus, not early enough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substance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not clear enough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innate ideas would be either actually perceived or recalled from the storehouse of memory, but if the latter there ought to be the distinctive consciousness of past perception</a:t>
            </a:r>
          </a:p>
        </p:txBody>
      </p:sp>
    </p:spTree>
    <p:extLst>
      <p:ext uri="{BB962C8B-B14F-4D97-AF65-F5344CB8AC3E}">
        <p14:creationId xmlns:p14="http://schemas.microsoft.com/office/powerpoint/2010/main" val="4022764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15462</TotalTime>
  <Words>592</Words>
  <Application>Microsoft Office PowerPoint</Application>
  <PresentationFormat>On-screen Show (4:3)</PresentationFormat>
  <Paragraphs>55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Palatino Linotype</vt:lpstr>
      <vt:lpstr>Default Design</vt:lpstr>
      <vt:lpstr>What is Locke’s nativist target?</vt:lpstr>
      <vt:lpstr>What is Locke’s nativist target?</vt:lpstr>
      <vt:lpstr>What is Locke’s nativist target?</vt:lpstr>
      <vt:lpstr>What is Locke’s nativist target?</vt:lpstr>
    </vt:vector>
  </TitlesOfParts>
  <Company>University of Arizona Philosophy Department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fdsdffds</dc:title>
  <dc:creator>Cole Mitchell</dc:creator>
  <cp:lastModifiedBy>XYZ</cp:lastModifiedBy>
  <cp:revision>1924</cp:revision>
  <cp:lastPrinted>2023-03-10T01:06:17Z</cp:lastPrinted>
  <dcterms:created xsi:type="dcterms:W3CDTF">2006-08-23T23:46:24Z</dcterms:created>
  <dcterms:modified xsi:type="dcterms:W3CDTF">2026-03-15T18:23:44Z</dcterms:modified>
</cp:coreProperties>
</file>